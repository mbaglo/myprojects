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17"/>
  </p:notesMasterIdLst>
  <p:handoutMasterIdLst>
    <p:handoutMasterId r:id="rId18"/>
  </p:handoutMasterIdLst>
  <p:sldIdLst>
    <p:sldId id="256" r:id="rId2"/>
    <p:sldId id="257" r:id="rId3"/>
    <p:sldId id="264" r:id="rId4"/>
    <p:sldId id="282" r:id="rId5"/>
    <p:sldId id="283" r:id="rId6"/>
    <p:sldId id="284" r:id="rId7"/>
    <p:sldId id="272" r:id="rId8"/>
    <p:sldId id="273" r:id="rId9"/>
    <p:sldId id="274" r:id="rId10"/>
    <p:sldId id="275" r:id="rId11"/>
    <p:sldId id="280" r:id="rId12"/>
    <p:sldId id="285" r:id="rId13"/>
    <p:sldId id="286" r:id="rId14"/>
    <p:sldId id="281" r:id="rId15"/>
    <p:sldId id="263" r:id="rId16"/>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0E3563-C2AF-044A-8D9B-13463D2643B3}">
          <p14:sldIdLst>
            <p14:sldId id="256"/>
            <p14:sldId id="257"/>
            <p14:sldId id="264"/>
            <p14:sldId id="282"/>
            <p14:sldId id="283"/>
            <p14:sldId id="284"/>
            <p14:sldId id="272"/>
            <p14:sldId id="273"/>
            <p14:sldId id="274"/>
            <p14:sldId id="275"/>
            <p14:sldId id="280"/>
            <p14:sldId id="285"/>
            <p14:sldId id="286"/>
            <p14:sldId id="281"/>
            <p14:sldId id="26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E46102"/>
    <a:srgbClr val="EEEEEE"/>
    <a:srgbClr val="D95E00"/>
    <a:srgbClr val="E56618"/>
    <a:srgbClr val="EF6F2A"/>
    <a:srgbClr val="68696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41" autoAdjust="0"/>
    <p:restoredTop sz="80024" autoAdjust="0"/>
  </p:normalViewPr>
  <p:slideViewPr>
    <p:cSldViewPr snapToGrid="0" snapToObjects="1">
      <p:cViewPr varScale="1">
        <p:scale>
          <a:sx n="62" d="100"/>
          <a:sy n="62" d="100"/>
        </p:scale>
        <p:origin x="1690" y="34"/>
      </p:cViewPr>
      <p:guideLst>
        <p:guide orient="horz" pos="2160"/>
        <p:guide pos="3840"/>
      </p:guideLst>
    </p:cSldViewPr>
  </p:slideViewPr>
  <p:outlineViewPr>
    <p:cViewPr>
      <p:scale>
        <a:sx n="33" d="100"/>
        <a:sy n="33" d="100"/>
      </p:scale>
      <p:origin x="0" y="-405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06" d="100"/>
          <a:sy n="106" d="100"/>
        </p:scale>
        <p:origin x="4368"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333BD0-7962-B04A-8E72-AD5168F631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6B94C6-1659-0D42-8942-DAD6793A09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9C6931-D0F6-AB40-9D7F-95567148A5C2}" type="datetimeFigureOut">
              <a:rPr lang="en-US" smtClean="0"/>
              <a:t>4/16/2026</a:t>
            </a:fld>
            <a:endParaRPr lang="en-US"/>
          </a:p>
        </p:txBody>
      </p:sp>
      <p:sp>
        <p:nvSpPr>
          <p:cNvPr id="4" name="Footer Placeholder 3">
            <a:extLst>
              <a:ext uri="{FF2B5EF4-FFF2-40B4-BE49-F238E27FC236}">
                <a16:creationId xmlns:a16="http://schemas.microsoft.com/office/drawing/2014/main" id="{8BE64BEA-E2E4-BF48-8CF7-45787CAA5A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939BBDE-4EF8-F14C-8AE0-73BF9B0C33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F64436-003E-284C-9347-5BCE37456516}" type="slidenum">
              <a:rPr lang="en-US" smtClean="0"/>
              <a:t>‹#›</a:t>
            </a:fld>
            <a:endParaRPr lang="en-US"/>
          </a:p>
        </p:txBody>
      </p:sp>
    </p:spTree>
    <p:extLst>
      <p:ext uri="{BB962C8B-B14F-4D97-AF65-F5344CB8AC3E}">
        <p14:creationId xmlns:p14="http://schemas.microsoft.com/office/powerpoint/2010/main" val="23733386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6C18F2-6801-5147-A332-A6E1C7D69D18}" type="datetimeFigureOut">
              <a:rPr lang="en-US" smtClean="0"/>
              <a:t>4/16/2026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CF60EF-C37D-4D44-90AD-6140AB570E45}" type="slidenum">
              <a:rPr lang="en-US" smtClean="0"/>
              <a:t>‹#›</a:t>
            </a:fld>
            <a:endParaRPr lang="en-US"/>
          </a:p>
        </p:txBody>
      </p:sp>
    </p:spTree>
    <p:extLst>
      <p:ext uri="{BB962C8B-B14F-4D97-AF65-F5344CB8AC3E}">
        <p14:creationId xmlns:p14="http://schemas.microsoft.com/office/powerpoint/2010/main" val="1818248317"/>
      </p:ext>
    </p:extLst>
  </p:cSld>
  <p:clrMap bg1="lt1" tx1="dk1" bg2="lt2" tx2="dk2" accent1="accent1" accent2="accent2" accent3="accent3" accent4="accent4" accent5="accent5" accent6="accent6" hlink="hlink" folHlink="folHlink"/>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our project studied whether deep sequential neural architectures can improve short-horizon Bitcoin direction prediction relative to classical machine learning baselines.</a:t>
            </a:r>
          </a:p>
        </p:txBody>
      </p:sp>
      <p:sp>
        <p:nvSpPr>
          <p:cNvPr id="4" name="Slide Number Placeholder 3"/>
          <p:cNvSpPr>
            <a:spLocks noGrp="1"/>
          </p:cNvSpPr>
          <p:nvPr>
            <p:ph type="sldNum" sz="quarter" idx="5"/>
          </p:nvPr>
        </p:nvSpPr>
        <p:spPr/>
        <p:txBody>
          <a:bodyPr/>
          <a:lstStyle/>
          <a:p>
            <a:fld id="{8DCF60EF-C37D-4D44-90AD-6140AB570E45}" type="slidenum">
              <a:rPr lang="en-US" smtClean="0"/>
              <a:t>1</a:t>
            </a:fld>
            <a:endParaRPr lang="en-US"/>
          </a:p>
        </p:txBody>
      </p:sp>
    </p:spTree>
    <p:extLst>
      <p:ext uri="{BB962C8B-B14F-4D97-AF65-F5344CB8AC3E}">
        <p14:creationId xmlns:p14="http://schemas.microsoft.com/office/powerpoint/2010/main" val="2476414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2</a:t>
            </a:fld>
            <a:endParaRPr lang="en-US"/>
          </a:p>
        </p:txBody>
      </p:sp>
    </p:spTree>
    <p:extLst>
      <p:ext uri="{BB962C8B-B14F-4D97-AF65-F5344CB8AC3E}">
        <p14:creationId xmlns:p14="http://schemas.microsoft.com/office/powerpoint/2010/main" val="1668354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markets generate sequential data, but short-horizon prediction is extremely difficult because the data are noisy and rapidly changing. This project was motivated by the question of whether deep sequence models really provide an advantage over strong classical baselines in this kind of setting.</a:t>
            </a:r>
          </a:p>
        </p:txBody>
      </p:sp>
      <p:sp>
        <p:nvSpPr>
          <p:cNvPr id="4" name="Slide Number Placeholder 3"/>
          <p:cNvSpPr>
            <a:spLocks noGrp="1"/>
          </p:cNvSpPr>
          <p:nvPr>
            <p:ph type="sldNum" sz="quarter" idx="5"/>
          </p:nvPr>
        </p:nvSpPr>
        <p:spPr/>
        <p:txBody>
          <a:bodyPr/>
          <a:lstStyle/>
          <a:p>
            <a:fld id="{8DCF60EF-C37D-4D44-90AD-6140AB570E45}" type="slidenum">
              <a:rPr lang="en-US" smtClean="0"/>
              <a:t>3</a:t>
            </a:fld>
            <a:endParaRPr lang="en-US"/>
          </a:p>
        </p:txBody>
      </p:sp>
    </p:spTree>
    <p:extLst>
      <p:ext uri="{BB962C8B-B14F-4D97-AF65-F5344CB8AC3E}">
        <p14:creationId xmlns:p14="http://schemas.microsoft.com/office/powerpoint/2010/main" val="573646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question was how different deep sequence models compare on short-horizon Bitcoin direction prediction. Our initial expectation was that deep recurrent, hybrid, and multitask models would outperform classical baselines because they explicitly model temporal dependencies.</a:t>
            </a:r>
          </a:p>
        </p:txBody>
      </p:sp>
      <p:sp>
        <p:nvSpPr>
          <p:cNvPr id="4" name="Slide Number Placeholder 3"/>
          <p:cNvSpPr>
            <a:spLocks noGrp="1"/>
          </p:cNvSpPr>
          <p:nvPr>
            <p:ph type="sldNum" sz="quarter" idx="5"/>
          </p:nvPr>
        </p:nvSpPr>
        <p:spPr/>
        <p:txBody>
          <a:bodyPr/>
          <a:lstStyle/>
          <a:p>
            <a:fld id="{8DCF60EF-C37D-4D44-90AD-6140AB570E45}" type="slidenum">
              <a:rPr lang="en-US" smtClean="0"/>
              <a:t>4</a:t>
            </a:fld>
            <a:endParaRPr lang="en-US"/>
          </a:p>
        </p:txBody>
      </p:sp>
    </p:spTree>
    <p:extLst>
      <p:ext uri="{BB962C8B-B14F-4D97-AF65-F5344CB8AC3E}">
        <p14:creationId xmlns:p14="http://schemas.microsoft.com/office/powerpoint/2010/main" val="89276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Bitcoin studies showed that short-horizon prediction is highly sensitive to horizon selection and chronological evaluation, which motivated my time-aware data split and target design. The broader sequence-modeling literature also supported testing both convolutional and recurrent architectures, since CNNs capture local temporal patterns while LSTM and GRU remain strong baselines for sequential forecasting..</a:t>
            </a:r>
          </a:p>
        </p:txBody>
      </p:sp>
      <p:sp>
        <p:nvSpPr>
          <p:cNvPr id="4" name="Slide Number Placeholder 3"/>
          <p:cNvSpPr>
            <a:spLocks noGrp="1"/>
          </p:cNvSpPr>
          <p:nvPr>
            <p:ph type="sldNum" sz="quarter" idx="5"/>
          </p:nvPr>
        </p:nvSpPr>
        <p:spPr/>
        <p:txBody>
          <a:bodyPr/>
          <a:lstStyle/>
          <a:p>
            <a:fld id="{8DCF60EF-C37D-4D44-90AD-6140AB570E45}" type="slidenum">
              <a:rPr lang="en-US" smtClean="0"/>
              <a:t>5</a:t>
            </a:fld>
            <a:endParaRPr lang="en-US"/>
          </a:p>
        </p:txBody>
      </p:sp>
    </p:spTree>
    <p:extLst>
      <p:ext uri="{BB962C8B-B14F-4D97-AF65-F5344CB8AC3E}">
        <p14:creationId xmlns:p14="http://schemas.microsoft.com/office/powerpoint/2010/main" val="1752636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651BE-3C7C-AD33-54E6-3B1644E63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DBD87-8B48-A57E-3F9A-DB0715E61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B11CB0-F9D9-FCA5-6986-0E0629BD8931}"/>
              </a:ext>
            </a:extLst>
          </p:cNvPr>
          <p:cNvSpPr>
            <a:spLocks noGrp="1"/>
          </p:cNvSpPr>
          <p:nvPr>
            <p:ph type="body" idx="1"/>
          </p:nvPr>
        </p:nvSpPr>
        <p:spPr/>
        <p:txBody>
          <a:bodyPr/>
          <a:lstStyle/>
          <a:p>
            <a:r>
              <a:rPr lang="en-US" dirty="0"/>
              <a:t>Hybrid and attention-based literature further motivated the project. </a:t>
            </a:r>
            <a:r>
              <a:rPr lang="en-US" dirty="0" err="1"/>
              <a:t>DeepLOB</a:t>
            </a:r>
            <a:r>
              <a:rPr lang="en-US" dirty="0"/>
              <a:t> showed the value of combining convolutional and recurrent layers for financial sequence modeling, while transformer literature motivated the inclusion of attention-based models. Financial machine learning literature also emphasized realistic evaluation, which influenced my use of purge gaps, calibration analysis, and </a:t>
            </a:r>
            <a:r>
              <a:rPr lang="en-US" dirty="0" err="1"/>
              <a:t>backtesting</a:t>
            </a:r>
            <a:r>
              <a:rPr lang="en-US" dirty="0"/>
              <a:t>.</a:t>
            </a:r>
          </a:p>
        </p:txBody>
      </p:sp>
      <p:sp>
        <p:nvSpPr>
          <p:cNvPr id="4" name="Slide Number Placeholder 3">
            <a:extLst>
              <a:ext uri="{FF2B5EF4-FFF2-40B4-BE49-F238E27FC236}">
                <a16:creationId xmlns:a16="http://schemas.microsoft.com/office/drawing/2014/main" id="{CB95F732-CBDE-725F-3219-CC69AB1B7362}"/>
              </a:ext>
            </a:extLst>
          </p:cNvPr>
          <p:cNvSpPr>
            <a:spLocks noGrp="1"/>
          </p:cNvSpPr>
          <p:nvPr>
            <p:ph type="sldNum" sz="quarter" idx="5"/>
          </p:nvPr>
        </p:nvSpPr>
        <p:spPr/>
        <p:txBody>
          <a:bodyPr/>
          <a:lstStyle/>
          <a:p>
            <a:fld id="{8DCF60EF-C37D-4D44-90AD-6140AB570E45}" type="slidenum">
              <a:rPr lang="en-US" smtClean="0"/>
              <a:t>6</a:t>
            </a:fld>
            <a:endParaRPr lang="en-US"/>
          </a:p>
        </p:txBody>
      </p:sp>
    </p:spTree>
    <p:extLst>
      <p:ext uri="{BB962C8B-B14F-4D97-AF65-F5344CB8AC3E}">
        <p14:creationId xmlns:p14="http://schemas.microsoft.com/office/powerpoint/2010/main" val="523680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minute-level Bitcoin data and formulated the task as binary direction classification based on future log return over a 10-minute horizon. To reduce noise, we applied threshold filtering so that only meaningful price movements were kept. We also used strict chronological splitting and a purge gap to avoid look-ahead leakage. Each input sample used a fixed historical window of 240 timesteps, and sequences were generated with stride 10.</a:t>
            </a:r>
          </a:p>
        </p:txBody>
      </p:sp>
      <p:sp>
        <p:nvSpPr>
          <p:cNvPr id="4" name="Slide Number Placeholder 3"/>
          <p:cNvSpPr>
            <a:spLocks noGrp="1"/>
          </p:cNvSpPr>
          <p:nvPr>
            <p:ph type="sldNum" sz="quarter" idx="5"/>
          </p:nvPr>
        </p:nvSpPr>
        <p:spPr/>
        <p:txBody>
          <a:bodyPr/>
          <a:lstStyle/>
          <a:p>
            <a:fld id="{8DCF60EF-C37D-4D44-90AD-6140AB570E45}" type="slidenum">
              <a:rPr lang="en-US" smtClean="0"/>
              <a:t>7</a:t>
            </a:fld>
            <a:endParaRPr lang="en-US"/>
          </a:p>
        </p:txBody>
      </p:sp>
    </p:spTree>
    <p:extLst>
      <p:ext uri="{BB962C8B-B14F-4D97-AF65-F5344CB8AC3E}">
        <p14:creationId xmlns:p14="http://schemas.microsoft.com/office/powerpoint/2010/main" val="2911562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is to compare classical baselines with deep sequence models under a unified framework. Further  multitask learning was done on deep models, by adding auxiliary heads for regime classification and future return regression to see whether additional supervision would improve the main direction task.</a:t>
            </a:r>
          </a:p>
        </p:txBody>
      </p:sp>
      <p:sp>
        <p:nvSpPr>
          <p:cNvPr id="4" name="Slide Number Placeholder 3"/>
          <p:cNvSpPr>
            <a:spLocks noGrp="1"/>
          </p:cNvSpPr>
          <p:nvPr>
            <p:ph type="sldNum" sz="quarter" idx="5"/>
          </p:nvPr>
        </p:nvSpPr>
        <p:spPr/>
        <p:txBody>
          <a:bodyPr/>
          <a:lstStyle/>
          <a:p>
            <a:fld id="{8DCF60EF-C37D-4D44-90AD-6140AB570E45}" type="slidenum">
              <a:rPr lang="en-US" smtClean="0"/>
              <a:t>8</a:t>
            </a:fld>
            <a:endParaRPr lang="en-US"/>
          </a:p>
        </p:txBody>
      </p:sp>
    </p:spTree>
    <p:extLst>
      <p:ext uri="{BB962C8B-B14F-4D97-AF65-F5344CB8AC3E}">
        <p14:creationId xmlns:p14="http://schemas.microsoft.com/office/powerpoint/2010/main" val="3220336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models were evaluated with both classification metrics and calibration metrics. we also included </a:t>
            </a:r>
            <a:r>
              <a:rPr lang="en-US" dirty="0" err="1"/>
              <a:t>backtesting</a:t>
            </a:r>
            <a:r>
              <a:rPr lang="en-US" dirty="0"/>
              <a:t> because a model that looks slightly better in classification may not actually perform best in trading.</a:t>
            </a:r>
          </a:p>
        </p:txBody>
      </p:sp>
      <p:sp>
        <p:nvSpPr>
          <p:cNvPr id="4" name="Slide Number Placeholder 3"/>
          <p:cNvSpPr>
            <a:spLocks noGrp="1"/>
          </p:cNvSpPr>
          <p:nvPr>
            <p:ph type="sldNum" sz="quarter" idx="5"/>
          </p:nvPr>
        </p:nvSpPr>
        <p:spPr/>
        <p:txBody>
          <a:bodyPr/>
          <a:lstStyle/>
          <a:p>
            <a:fld id="{8DCF60EF-C37D-4D44-90AD-6140AB570E45}" type="slidenum">
              <a:rPr lang="en-US" smtClean="0"/>
              <a:t>9</a:t>
            </a:fld>
            <a:endParaRPr lang="en-US"/>
          </a:p>
        </p:txBody>
      </p:sp>
    </p:spTree>
    <p:extLst>
      <p:ext uri="{BB962C8B-B14F-4D97-AF65-F5344CB8AC3E}">
        <p14:creationId xmlns:p14="http://schemas.microsoft.com/office/powerpoint/2010/main" val="1626799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classifier was GRU, but the gain over Random Forest was very small. This means the deep models were only modestly better than the strongest baseline. Also, multitask learning did not beat the best single-task model.</a:t>
            </a:r>
          </a:p>
        </p:txBody>
      </p:sp>
      <p:sp>
        <p:nvSpPr>
          <p:cNvPr id="4" name="Slide Number Placeholder 3"/>
          <p:cNvSpPr>
            <a:spLocks noGrp="1"/>
          </p:cNvSpPr>
          <p:nvPr>
            <p:ph type="sldNum" sz="quarter" idx="5"/>
          </p:nvPr>
        </p:nvSpPr>
        <p:spPr/>
        <p:txBody>
          <a:bodyPr/>
          <a:lstStyle/>
          <a:p>
            <a:fld id="{8DCF60EF-C37D-4D44-90AD-6140AB570E45}" type="slidenum">
              <a:rPr lang="en-US" smtClean="0"/>
              <a:t>10</a:t>
            </a:fld>
            <a:endParaRPr lang="en-US"/>
          </a:p>
        </p:txBody>
      </p:sp>
    </p:spTree>
    <p:extLst>
      <p:ext uri="{BB962C8B-B14F-4D97-AF65-F5344CB8AC3E}">
        <p14:creationId xmlns:p14="http://schemas.microsoft.com/office/powerpoint/2010/main" val="1188071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calibration analysis showed that predicted probabilities were concentrated near the decision threshold. This means the models were uncertain most of the time. Confidence filtering helped a little, but not enough to reveal a strong subset of highly reliable predictions.</a:t>
            </a:r>
          </a:p>
        </p:txBody>
      </p:sp>
      <p:sp>
        <p:nvSpPr>
          <p:cNvPr id="4" name="Slide Number Placeholder 3"/>
          <p:cNvSpPr>
            <a:spLocks noGrp="1"/>
          </p:cNvSpPr>
          <p:nvPr>
            <p:ph type="sldNum" sz="quarter" idx="5"/>
          </p:nvPr>
        </p:nvSpPr>
        <p:spPr/>
        <p:txBody>
          <a:bodyPr/>
          <a:lstStyle/>
          <a:p>
            <a:fld id="{8DCF60EF-C37D-4D44-90AD-6140AB570E45}" type="slidenum">
              <a:rPr lang="en-US" smtClean="0"/>
              <a:t>11</a:t>
            </a:fld>
            <a:endParaRPr lang="en-US"/>
          </a:p>
        </p:txBody>
      </p:sp>
    </p:spTree>
    <p:extLst>
      <p:ext uri="{BB962C8B-B14F-4D97-AF65-F5344CB8AC3E}">
        <p14:creationId xmlns:p14="http://schemas.microsoft.com/office/powerpoint/2010/main" val="1324161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370FB-5E88-E1AD-CE5A-548DFE09D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F3E2E-304A-B9A6-645E-6E542BB79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E23ED-D80C-4A56-FA1D-C1DCD68992AB}"/>
              </a:ext>
            </a:extLst>
          </p:cNvPr>
          <p:cNvSpPr>
            <a:spLocks noGrp="1"/>
          </p:cNvSpPr>
          <p:nvPr>
            <p:ph type="body" idx="1"/>
          </p:nvPr>
        </p:nvSpPr>
        <p:spPr/>
        <p:txBody>
          <a:bodyPr/>
          <a:lstStyle/>
          <a:p>
            <a:r>
              <a:rPr lang="en-US" dirty="0"/>
              <a:t>This was one of the most important findings of the project. The best classifier was GRU, but the best trading result came from LSTM. So slight differences in classification metrics did not map directly to the strongest trading performance. The equity is normalized, so a value above 5 means  5x starting capital under the simplified </a:t>
            </a:r>
            <a:r>
              <a:rPr lang="en-US" dirty="0" err="1"/>
              <a:t>backtest</a:t>
            </a:r>
            <a:r>
              <a:rPr lang="en-US" dirty="0"/>
              <a:t>. The path was profitable, but there were still noticeable pullbacks.</a:t>
            </a:r>
          </a:p>
        </p:txBody>
      </p:sp>
      <p:sp>
        <p:nvSpPr>
          <p:cNvPr id="4" name="Slide Number Placeholder 3">
            <a:extLst>
              <a:ext uri="{FF2B5EF4-FFF2-40B4-BE49-F238E27FC236}">
                <a16:creationId xmlns:a16="http://schemas.microsoft.com/office/drawing/2014/main" id="{81BFE5DF-0DFE-65F4-C22D-95AA8AC362C9}"/>
              </a:ext>
            </a:extLst>
          </p:cNvPr>
          <p:cNvSpPr>
            <a:spLocks noGrp="1"/>
          </p:cNvSpPr>
          <p:nvPr>
            <p:ph type="sldNum" sz="quarter" idx="5"/>
          </p:nvPr>
        </p:nvSpPr>
        <p:spPr/>
        <p:txBody>
          <a:bodyPr/>
          <a:lstStyle/>
          <a:p>
            <a:fld id="{8DCF60EF-C37D-4D44-90AD-6140AB570E45}" type="slidenum">
              <a:rPr lang="en-US" smtClean="0"/>
              <a:t>12</a:t>
            </a:fld>
            <a:endParaRPr lang="en-US"/>
          </a:p>
        </p:txBody>
      </p:sp>
    </p:spTree>
    <p:extLst>
      <p:ext uri="{BB962C8B-B14F-4D97-AF65-F5344CB8AC3E}">
        <p14:creationId xmlns:p14="http://schemas.microsoft.com/office/powerpoint/2010/main" val="2130147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BD22C-68A3-429C-ADFB-C73CEB82B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59B5F-502F-2D71-B484-D6F19E792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2BB20-9ED3-9754-9908-6B2134C45AAA}"/>
              </a:ext>
            </a:extLst>
          </p:cNvPr>
          <p:cNvSpPr>
            <a:spLocks noGrp="1"/>
          </p:cNvSpPr>
          <p:nvPr>
            <p:ph type="body" idx="1"/>
          </p:nvPr>
        </p:nvSpPr>
        <p:spPr/>
        <p:txBody>
          <a:bodyPr/>
          <a:lstStyle/>
          <a:p>
            <a:r>
              <a:rPr lang="en-US" dirty="0"/>
              <a:t>The next stage of this project should focus less on adding complexity and more on improving the information content of the inputs, refining the target design, and strengthening the realism of the evaluation framework.</a:t>
            </a:r>
          </a:p>
        </p:txBody>
      </p:sp>
      <p:sp>
        <p:nvSpPr>
          <p:cNvPr id="4" name="Slide Number Placeholder 3">
            <a:extLst>
              <a:ext uri="{FF2B5EF4-FFF2-40B4-BE49-F238E27FC236}">
                <a16:creationId xmlns:a16="http://schemas.microsoft.com/office/drawing/2014/main" id="{6592217D-11A5-C65B-90C4-19123F00729F}"/>
              </a:ext>
            </a:extLst>
          </p:cNvPr>
          <p:cNvSpPr>
            <a:spLocks noGrp="1"/>
          </p:cNvSpPr>
          <p:nvPr>
            <p:ph type="sldNum" sz="quarter" idx="5"/>
          </p:nvPr>
        </p:nvSpPr>
        <p:spPr/>
        <p:txBody>
          <a:bodyPr/>
          <a:lstStyle/>
          <a:p>
            <a:fld id="{8DCF60EF-C37D-4D44-90AD-6140AB570E45}" type="slidenum">
              <a:rPr lang="en-US" smtClean="0"/>
              <a:t>13</a:t>
            </a:fld>
            <a:endParaRPr lang="en-US"/>
          </a:p>
        </p:txBody>
      </p:sp>
    </p:spTree>
    <p:extLst>
      <p:ext uri="{BB962C8B-B14F-4D97-AF65-F5344CB8AC3E}">
        <p14:creationId xmlns:p14="http://schemas.microsoft.com/office/powerpoint/2010/main" val="67798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14</a:t>
            </a:fld>
            <a:endParaRPr lang="en-US"/>
          </a:p>
        </p:txBody>
      </p:sp>
    </p:spTree>
    <p:extLst>
      <p:ext uri="{BB962C8B-B14F-4D97-AF65-F5344CB8AC3E}">
        <p14:creationId xmlns:p14="http://schemas.microsoft.com/office/powerpoint/2010/main" val="1242288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15</a:t>
            </a:fld>
            <a:endParaRPr lang="en-US"/>
          </a:p>
        </p:txBody>
      </p:sp>
    </p:spTree>
    <p:extLst>
      <p:ext uri="{BB962C8B-B14F-4D97-AF65-F5344CB8AC3E}">
        <p14:creationId xmlns:p14="http://schemas.microsoft.com/office/powerpoint/2010/main" val="3227625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E1A813A5-67F0-4243-99EA-ADDCF3940247}"/>
              </a:ext>
            </a:extLst>
          </p:cNvPr>
          <p:cNvPicPr>
            <a:picLocks noChangeAspect="1"/>
          </p:cNvPicPr>
          <p:nvPr userDrawn="1"/>
        </p:nvPicPr>
        <p:blipFill>
          <a:blip r:embed="rId2"/>
          <a:srcRect t="2875" b="2875"/>
          <a:stretch/>
        </p:blipFill>
        <p:spPr>
          <a:xfrm>
            <a:off x="6152018" y="-67236"/>
            <a:ext cx="4932281" cy="6973083"/>
          </a:xfrm>
          <a:prstGeom prst="rect">
            <a:avLst/>
          </a:prstGeom>
        </p:spPr>
      </p:pic>
      <p:sp>
        <p:nvSpPr>
          <p:cNvPr id="32" name="Rectangle 31">
            <a:extLst>
              <a:ext uri="{FF2B5EF4-FFF2-40B4-BE49-F238E27FC236}">
                <a16:creationId xmlns:a16="http://schemas.microsoft.com/office/drawing/2014/main" id="{05B91357-5C4C-6749-B294-84C6AE7509D5}"/>
              </a:ext>
            </a:extLst>
          </p:cNvPr>
          <p:cNvSpPr/>
          <p:nvPr userDrawn="1"/>
        </p:nvSpPr>
        <p:spPr>
          <a:xfrm>
            <a:off x="11057641" y="-94129"/>
            <a:ext cx="1268052" cy="6973083"/>
          </a:xfrm>
          <a:prstGeom prst="rect">
            <a:avLst/>
          </a:prstGeom>
          <a:solidFill>
            <a:srgbClr val="FC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FEFD9D4D-26CF-1B40-9449-C3AAAE20A4D6}"/>
              </a:ext>
            </a:extLst>
          </p:cNvPr>
          <p:cNvSpPr>
            <a:spLocks noGrp="1"/>
          </p:cNvSpPr>
          <p:nvPr>
            <p:ph type="body" sz="quarter" idx="10" hasCustomPrompt="1"/>
          </p:nvPr>
        </p:nvSpPr>
        <p:spPr>
          <a:xfrm>
            <a:off x="349384" y="4415481"/>
            <a:ext cx="5421167" cy="307777"/>
          </a:xfrm>
          <a:prstGeom prst="rect">
            <a:avLst/>
          </a:prstGeom>
          <a:noFill/>
        </p:spPr>
        <p:txBody>
          <a:bodyPr wrap="square" lIns="0" tIns="0" rIns="0" bIns="0" anchor="b" anchorCtr="0">
            <a:spAutoFit/>
          </a:bodyPr>
          <a:lstStyle>
            <a:lvl1pPr marL="0" indent="0">
              <a:lnSpc>
                <a:spcPts val="2400"/>
              </a:lnSpc>
              <a:spcBef>
                <a:spcPts val="0"/>
              </a:spcBef>
              <a:buNone/>
              <a:defRPr sz="2200" b="1">
                <a:solidFill>
                  <a:schemeClr val="tx1"/>
                </a:solidFill>
              </a:defRPr>
            </a:lvl1pPr>
          </a:lstStyle>
          <a:p>
            <a:pPr lvl="0"/>
            <a:r>
              <a:rPr lang="en-US" dirty="0"/>
              <a:t>Click to add Subhead</a:t>
            </a:r>
          </a:p>
        </p:txBody>
      </p:sp>
      <p:sp>
        <p:nvSpPr>
          <p:cNvPr id="21" name="Text Placeholder 18">
            <a:extLst>
              <a:ext uri="{FF2B5EF4-FFF2-40B4-BE49-F238E27FC236}">
                <a16:creationId xmlns:a16="http://schemas.microsoft.com/office/drawing/2014/main" id="{E225A074-EFE6-D641-B858-30CD0522553E}"/>
              </a:ext>
            </a:extLst>
          </p:cNvPr>
          <p:cNvSpPr>
            <a:spLocks noGrp="1"/>
          </p:cNvSpPr>
          <p:nvPr>
            <p:ph type="body" sz="quarter" idx="16" hasCustomPrompt="1"/>
          </p:nvPr>
        </p:nvSpPr>
        <p:spPr>
          <a:xfrm>
            <a:off x="0" y="5532754"/>
            <a:ext cx="12192000" cy="1346199"/>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26" name="Text Placeholder 14">
            <a:extLst>
              <a:ext uri="{FF2B5EF4-FFF2-40B4-BE49-F238E27FC236}">
                <a16:creationId xmlns:a16="http://schemas.microsoft.com/office/drawing/2014/main" id="{50388744-69EF-D44B-97D2-6D2F60890FF4}"/>
              </a:ext>
            </a:extLst>
          </p:cNvPr>
          <p:cNvSpPr>
            <a:spLocks noGrp="1"/>
          </p:cNvSpPr>
          <p:nvPr>
            <p:ph type="body" sz="quarter" idx="11" hasCustomPrompt="1"/>
          </p:nvPr>
        </p:nvSpPr>
        <p:spPr>
          <a:xfrm>
            <a:off x="349384" y="4927101"/>
            <a:ext cx="5421167" cy="338554"/>
          </a:xfrm>
          <a:prstGeom prst="rect">
            <a:avLst/>
          </a:prstGeom>
          <a:noFill/>
        </p:spPr>
        <p:txBody>
          <a:bodyPr wrap="square" lIns="0" tIns="0" rIns="0" bIns="0" anchor="t" anchorCtr="0">
            <a:spAutoFit/>
          </a:bodyPr>
          <a:lstStyle>
            <a:lvl1pPr marL="0" indent="0">
              <a:buNone/>
              <a:defRPr sz="2200" b="0">
                <a:solidFill>
                  <a:schemeClr val="tx1"/>
                </a:solidFill>
              </a:defRPr>
            </a:lvl1pPr>
          </a:lstStyle>
          <a:p>
            <a:pPr lvl="0"/>
            <a:r>
              <a:rPr lang="en-US" dirty="0"/>
              <a:t>Click to add Date</a:t>
            </a:r>
          </a:p>
        </p:txBody>
      </p:sp>
      <p:pic>
        <p:nvPicPr>
          <p:cNvPr id="30" name="Picture 29">
            <a:extLst>
              <a:ext uri="{FF2B5EF4-FFF2-40B4-BE49-F238E27FC236}">
                <a16:creationId xmlns:a16="http://schemas.microsoft.com/office/drawing/2014/main" id="{E075D6DC-3071-304F-BE8D-FC99BB1B6736}"/>
              </a:ext>
            </a:extLst>
          </p:cNvPr>
          <p:cNvPicPr>
            <a:picLocks noChangeAspect="1"/>
          </p:cNvPicPr>
          <p:nvPr userDrawn="1"/>
        </p:nvPicPr>
        <p:blipFill>
          <a:blip r:embed="rId3"/>
          <a:stretch>
            <a:fillRect/>
          </a:stretch>
        </p:blipFill>
        <p:spPr>
          <a:xfrm>
            <a:off x="11348959" y="145901"/>
            <a:ext cx="601912" cy="229944"/>
          </a:xfrm>
          <a:prstGeom prst="rect">
            <a:avLst/>
          </a:prstGeom>
        </p:spPr>
      </p:pic>
      <p:sp>
        <p:nvSpPr>
          <p:cNvPr id="2" name="Title 1">
            <a:extLst>
              <a:ext uri="{FF2B5EF4-FFF2-40B4-BE49-F238E27FC236}">
                <a16:creationId xmlns:a16="http://schemas.microsoft.com/office/drawing/2014/main" id="{8879311F-0114-9D4A-A4B7-60166D403123}"/>
              </a:ext>
            </a:extLst>
          </p:cNvPr>
          <p:cNvSpPr>
            <a:spLocks noGrp="1"/>
          </p:cNvSpPr>
          <p:nvPr>
            <p:ph type="title" hasCustomPrompt="1"/>
          </p:nvPr>
        </p:nvSpPr>
        <p:spPr>
          <a:xfrm>
            <a:off x="344981" y="889478"/>
            <a:ext cx="5421167" cy="2607059"/>
          </a:xfrm>
          <a:prstGeom prst="rect">
            <a:avLst/>
          </a:prstGeom>
        </p:spPr>
        <p:txBody>
          <a:bodyPr/>
          <a:lstStyle>
            <a:lvl1pPr algn="l">
              <a:defRPr sz="6000" b="1" i="0" baseline="0">
                <a:solidFill>
                  <a:schemeClr val="accent1"/>
                </a:solidFill>
              </a:defRPr>
            </a:lvl1pPr>
          </a:lstStyle>
          <a:p>
            <a:r>
              <a:rPr lang="en-US" dirty="0"/>
              <a:t>Click to add Presentation Title</a:t>
            </a:r>
          </a:p>
        </p:txBody>
      </p:sp>
    </p:spTree>
    <p:extLst>
      <p:ext uri="{BB962C8B-B14F-4D97-AF65-F5344CB8AC3E}">
        <p14:creationId xmlns:p14="http://schemas.microsoft.com/office/powerpoint/2010/main" val="2443357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F227BE32-0205-E84F-BDBB-EF6467178775}"/>
              </a:ext>
            </a:extLst>
          </p:cNvPr>
          <p:cNvSpPr>
            <a:spLocks noGrp="1"/>
          </p:cNvSpPr>
          <p:nvPr>
            <p:ph type="body" sz="quarter" idx="11" hasCustomPrompt="1"/>
          </p:nvPr>
        </p:nvSpPr>
        <p:spPr>
          <a:xfrm>
            <a:off x="4336704" y="1741012"/>
            <a:ext cx="7525333" cy="622904"/>
          </a:xfrm>
          <a:prstGeom prst="rect">
            <a:avLst/>
          </a:prstGeom>
        </p:spPr>
        <p:txBody>
          <a:bodyPr/>
          <a:lstStyle>
            <a:lvl1pPr marL="0" indent="0">
              <a:buNone/>
              <a:defRPr sz="3200" b="1"/>
            </a:lvl1pPr>
          </a:lstStyle>
          <a:p>
            <a:pPr lvl="0"/>
            <a:r>
              <a:rPr lang="en-US" dirty="0"/>
              <a:t>Click to add Subhead</a:t>
            </a:r>
          </a:p>
        </p:txBody>
      </p:sp>
      <p:sp>
        <p:nvSpPr>
          <p:cNvPr id="17" name="Text Placeholder 16">
            <a:extLst>
              <a:ext uri="{FF2B5EF4-FFF2-40B4-BE49-F238E27FC236}">
                <a16:creationId xmlns:a16="http://schemas.microsoft.com/office/drawing/2014/main" id="{7076F031-AF81-DC40-9A1C-C60C9367241C}"/>
              </a:ext>
            </a:extLst>
          </p:cNvPr>
          <p:cNvSpPr>
            <a:spLocks noGrp="1"/>
          </p:cNvSpPr>
          <p:nvPr>
            <p:ph type="body" sz="quarter" idx="12" hasCustomPrompt="1"/>
          </p:nvPr>
        </p:nvSpPr>
        <p:spPr>
          <a:xfrm>
            <a:off x="4328701" y="2560825"/>
            <a:ext cx="7533337" cy="2949193"/>
          </a:xfrm>
          <a:prstGeom prst="rect">
            <a:avLst/>
          </a:prstGeom>
        </p:spPr>
        <p:txBody>
          <a:bodyPr/>
          <a:lstStyle>
            <a:lvl1pPr marL="304792" indent="-296326">
              <a:buClr>
                <a:schemeClr val="accent1"/>
              </a:buClr>
              <a:buSzPct val="100000"/>
              <a:buFont typeface="Wingdings" pitchFamily="2" charset="2"/>
              <a:buChar char="§"/>
              <a:tabLst/>
              <a:defRPr sz="2667"/>
            </a:lvl1pPr>
            <a:lvl2pPr marL="535504" indent="-230712">
              <a:buClr>
                <a:srgbClr val="E46102"/>
              </a:buClr>
              <a:buSzPct val="100000"/>
              <a:buFont typeface="Arial" panose="020B0604020202020204" pitchFamily="34" charset="0"/>
              <a:buChar char="•"/>
              <a:tabLst/>
              <a:defRPr sz="2400"/>
            </a:lvl2pPr>
            <a:lvl3pPr marL="840296" indent="-230712">
              <a:buClr>
                <a:srgbClr val="E46102"/>
              </a:buClr>
              <a:buSzPct val="100000"/>
              <a:buFont typeface="Wingdings" pitchFamily="2" charset="2"/>
              <a:buChar char="§"/>
              <a:tabLst/>
              <a:defRPr sz="2133"/>
            </a:lvl3pPr>
            <a:lvl4pPr marL="1073124" indent="-232828">
              <a:buClr>
                <a:srgbClr val="D95E00"/>
              </a:buClr>
              <a:buFont typeface="System Font Regular"/>
              <a:buChar char="&gt;"/>
              <a:tabLst/>
              <a:defRPr sz="1867"/>
            </a:lvl4pPr>
            <a:lvl5pPr marL="1301717" indent="-228594">
              <a:buClr>
                <a:srgbClr val="D95E00"/>
              </a:buClr>
              <a:buFont typeface="Wingdings" pitchFamily="2" charset="2"/>
              <a:buChar char="§"/>
              <a:tabLst/>
              <a:defRPr sz="1600"/>
            </a:lvl5pPr>
            <a:lvl6pPr marL="1295368" indent="0">
              <a:buClr>
                <a:srgbClr val="D95E00"/>
              </a:buClr>
              <a:buFont typeface="System Font Regular"/>
              <a:buNone/>
              <a:tabLst/>
              <a:defRPr sz="1467"/>
            </a:lvl6pPr>
            <a:lvl7pPr marL="1526078" indent="0">
              <a:buClr>
                <a:srgbClr val="D95E00"/>
              </a:buClr>
              <a:buFont typeface="Wingdings" pitchFamily="2" charset="2"/>
              <a:buNone/>
              <a:tabLst/>
              <a:defRPr sz="1333"/>
            </a:lvl7pPr>
          </a:lstStyle>
          <a:p>
            <a:pPr lvl="0"/>
            <a:r>
              <a:rPr lang="en-US" dirty="0"/>
              <a:t>Click to add bullet</a:t>
            </a:r>
          </a:p>
          <a:p>
            <a:pPr lvl="1"/>
            <a:r>
              <a:rPr lang="en-US" dirty="0"/>
              <a:t>Click to add sub-bullet</a:t>
            </a:r>
          </a:p>
          <a:p>
            <a:pPr lvl="2"/>
            <a:r>
              <a:rPr lang="en-US" dirty="0"/>
              <a:t>Click to add sub-sub-bullet</a:t>
            </a:r>
          </a:p>
        </p:txBody>
      </p:sp>
      <p:sp>
        <p:nvSpPr>
          <p:cNvPr id="19" name="Text Placeholder 18">
            <a:extLst>
              <a:ext uri="{FF2B5EF4-FFF2-40B4-BE49-F238E27FC236}">
                <a16:creationId xmlns:a16="http://schemas.microsoft.com/office/drawing/2014/main" id="{E1383E86-B978-174B-B3F5-A6CC48432624}"/>
              </a:ext>
            </a:extLst>
          </p:cNvPr>
          <p:cNvSpPr>
            <a:spLocks noGrp="1"/>
          </p:cNvSpPr>
          <p:nvPr>
            <p:ph type="body" sz="quarter" idx="13" hasCustomPrompt="1"/>
          </p:nvPr>
        </p:nvSpPr>
        <p:spPr>
          <a:xfrm>
            <a:off x="0" y="5511800"/>
            <a:ext cx="12192000" cy="1346200"/>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cxnSp>
        <p:nvCxnSpPr>
          <p:cNvPr id="10" name="Straight Connector 9">
            <a:extLst>
              <a:ext uri="{FF2B5EF4-FFF2-40B4-BE49-F238E27FC236}">
                <a16:creationId xmlns:a16="http://schemas.microsoft.com/office/drawing/2014/main" id="{F6856AB1-AAB5-DD41-A548-FB33E6E9490C}"/>
              </a:ext>
            </a:extLst>
          </p:cNvPr>
          <p:cNvCxnSpPr/>
          <p:nvPr userDrawn="1"/>
        </p:nvCxnSpPr>
        <p:spPr>
          <a:xfrm>
            <a:off x="272085" y="512494"/>
            <a:ext cx="267474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1BF8741-1247-824C-927C-EC3E8FDB5013}"/>
              </a:ext>
            </a:extLst>
          </p:cNvPr>
          <p:cNvCxnSpPr/>
          <p:nvPr userDrawn="1"/>
        </p:nvCxnSpPr>
        <p:spPr>
          <a:xfrm>
            <a:off x="3376635" y="512494"/>
            <a:ext cx="8485403" cy="0"/>
          </a:xfrm>
          <a:prstGeom prst="line">
            <a:avLst/>
          </a:prstGeom>
          <a:ln w="127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 name="Title 2">
            <a:extLst>
              <a:ext uri="{FF2B5EF4-FFF2-40B4-BE49-F238E27FC236}">
                <a16:creationId xmlns:a16="http://schemas.microsoft.com/office/drawing/2014/main" id="{E63B3BD3-FFCD-2847-A680-FC79E81D1E2F}"/>
              </a:ext>
            </a:extLst>
          </p:cNvPr>
          <p:cNvSpPr>
            <a:spLocks noGrp="1"/>
          </p:cNvSpPr>
          <p:nvPr>
            <p:ph type="title" hasCustomPrompt="1"/>
          </p:nvPr>
        </p:nvSpPr>
        <p:spPr>
          <a:xfrm>
            <a:off x="272085" y="984154"/>
            <a:ext cx="3607765" cy="4525843"/>
          </a:xfrm>
          <a:prstGeom prst="rect">
            <a:avLst/>
          </a:prstGeom>
        </p:spPr>
        <p:txBody>
          <a:bodyPr/>
          <a:lstStyle>
            <a:lvl1pPr algn="l">
              <a:defRPr sz="4267" b="1" i="0" baseline="0">
                <a:solidFill>
                  <a:schemeClr val="accent1"/>
                </a:solidFill>
              </a:defRPr>
            </a:lvl1pPr>
          </a:lstStyle>
          <a:p>
            <a:r>
              <a:rPr lang="en-US" dirty="0"/>
              <a:t>Click to add Main Header</a:t>
            </a:r>
          </a:p>
        </p:txBody>
      </p:sp>
    </p:spTree>
    <p:extLst>
      <p:ext uri="{BB962C8B-B14F-4D97-AF65-F5344CB8AC3E}">
        <p14:creationId xmlns:p14="http://schemas.microsoft.com/office/powerpoint/2010/main" val="3589062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AC8303E-CB79-A645-BEF9-D0CD24C49717}"/>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CA4F9A6-C8EF-1F4A-8155-1567273829D2}"/>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 name="Text Placeholder 18">
            <a:extLst>
              <a:ext uri="{FF2B5EF4-FFF2-40B4-BE49-F238E27FC236}">
                <a16:creationId xmlns:a16="http://schemas.microsoft.com/office/drawing/2014/main" id="{E1383E86-B978-174B-B3F5-A6CC48432624}"/>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26" name="Text Placeholder 25">
            <a:extLst>
              <a:ext uri="{FF2B5EF4-FFF2-40B4-BE49-F238E27FC236}">
                <a16:creationId xmlns:a16="http://schemas.microsoft.com/office/drawing/2014/main" id="{D06909BC-83A5-ED42-AE34-D78DAEC3F249}"/>
              </a:ext>
            </a:extLst>
          </p:cNvPr>
          <p:cNvSpPr>
            <a:spLocks noGrp="1"/>
          </p:cNvSpPr>
          <p:nvPr>
            <p:ph type="body" sz="quarter" idx="15" hasCustomPrompt="1"/>
          </p:nvPr>
        </p:nvSpPr>
        <p:spPr>
          <a:xfrm>
            <a:off x="272085" y="1744225"/>
            <a:ext cx="11589952" cy="3767575"/>
          </a:xfrm>
          <a:prstGeom prst="rect">
            <a:avLst/>
          </a:prstGeom>
        </p:spPr>
        <p:txBody>
          <a:bodyPr/>
          <a:lstStyle>
            <a:lvl1pPr marL="304792" indent="-304792">
              <a:buClr>
                <a:schemeClr val="accent1"/>
              </a:buClr>
              <a:buSzPct val="100000"/>
              <a:buFont typeface="Wingdings" pitchFamily="2" charset="2"/>
              <a:buChar char="§"/>
              <a:tabLst/>
              <a:defRPr sz="3200" b="1"/>
            </a:lvl1pPr>
            <a:lvl2pPr marL="609585" indent="-304792">
              <a:buClr>
                <a:srgbClr val="E46102"/>
              </a:buClr>
              <a:buFont typeface="Arial" panose="020B0604020202020204" pitchFamily="34" charset="0"/>
              <a:buChar char="•"/>
              <a:tabLst/>
              <a:defRPr sz="2667"/>
            </a:lvl2pPr>
            <a:lvl3pPr marL="914377" indent="-304792">
              <a:buClr>
                <a:srgbClr val="E46102"/>
              </a:buClr>
              <a:buSzPct val="100000"/>
              <a:buFont typeface="Wingdings" pitchFamily="2" charset="2"/>
              <a:buChar char="§"/>
              <a:tabLst/>
              <a:defRPr sz="2400"/>
            </a:lvl3pPr>
            <a:lvl4pPr marL="1221287" indent="-306910">
              <a:buClr>
                <a:srgbClr val="D95E00"/>
              </a:buClr>
              <a:buFont typeface="System Font Regular"/>
              <a:buChar char="&gt;"/>
              <a:tabLst/>
              <a:defRPr sz="2133"/>
            </a:lvl4pPr>
            <a:lvl5pPr marL="1526079" indent="-304792">
              <a:buClr>
                <a:srgbClr val="D95E00"/>
              </a:buClr>
              <a:buFont typeface="Wingdings" pitchFamily="2" charset="2"/>
              <a:buChar char="§"/>
              <a:tabLst/>
              <a:defRPr sz="1867"/>
            </a:lvl5pPr>
            <a:lvl6pPr marL="1756789" indent="-230712">
              <a:buClr>
                <a:srgbClr val="D95E00"/>
              </a:buClr>
              <a:buFont typeface="System Font Regular"/>
              <a:buChar char="&gt;"/>
              <a:tabLst/>
              <a:defRPr sz="1600"/>
            </a:lvl6pPr>
            <a:lvl7pPr marL="1904952" indent="-148163">
              <a:buClr>
                <a:srgbClr val="D95E00"/>
              </a:buClr>
              <a:buFont typeface="Wingdings" pitchFamily="2" charset="2"/>
              <a:buChar char="§"/>
              <a:tabLst/>
              <a:defRPr sz="1333"/>
            </a:lvl7pPr>
            <a:lvl8pPr marL="2061582" indent="-156629">
              <a:buClr>
                <a:srgbClr val="D95E00"/>
              </a:buClr>
              <a:buFont typeface="System Font Regular"/>
              <a:buChar char="&gt;"/>
              <a:tabLst/>
              <a:defRPr sz="1200"/>
            </a:lvl8pPr>
          </a:lstStyle>
          <a:p>
            <a:pPr lvl="0"/>
            <a:r>
              <a:rPr lang="en-US" dirty="0"/>
              <a:t>Click to add bullet</a:t>
            </a:r>
          </a:p>
          <a:p>
            <a:pPr lvl="1"/>
            <a:r>
              <a:rPr lang="en-US" dirty="0"/>
              <a:t>Click to add sub-bullet</a:t>
            </a:r>
          </a:p>
          <a:p>
            <a:pPr lvl="2"/>
            <a:r>
              <a:rPr lang="en-US" dirty="0"/>
              <a:t>Click to add sub-sub bullet</a:t>
            </a:r>
          </a:p>
        </p:txBody>
      </p:sp>
      <p:sp>
        <p:nvSpPr>
          <p:cNvPr id="2" name="Title 1">
            <a:extLst>
              <a:ext uri="{FF2B5EF4-FFF2-40B4-BE49-F238E27FC236}">
                <a16:creationId xmlns:a16="http://schemas.microsoft.com/office/drawing/2014/main" id="{73FD7795-12BD-2D42-B73A-5BFF0F917929}"/>
              </a:ext>
            </a:extLst>
          </p:cNvPr>
          <p:cNvSpPr>
            <a:spLocks noGrp="1"/>
          </p:cNvSpPr>
          <p:nvPr>
            <p:ph type="title" hasCustomPrompt="1"/>
          </p:nvPr>
        </p:nvSpPr>
        <p:spPr>
          <a:xfrm>
            <a:off x="272085" y="958452"/>
            <a:ext cx="10355658" cy="696384"/>
          </a:xfrm>
          <a:prstGeom prst="rect">
            <a:avLst/>
          </a:prstGeom>
        </p:spPr>
        <p:txBody>
          <a:bodyPr/>
          <a:lstStyle>
            <a:lvl1pPr algn="l">
              <a:defRPr sz="3733" b="1" i="0" baseline="0">
                <a:solidFill>
                  <a:schemeClr val="accent1"/>
                </a:solidFill>
              </a:defRPr>
            </a:lvl1pPr>
          </a:lstStyle>
          <a:p>
            <a:r>
              <a:rPr lang="en-US" dirty="0"/>
              <a:t>Click to add Header</a:t>
            </a:r>
          </a:p>
        </p:txBody>
      </p:sp>
    </p:spTree>
    <p:extLst>
      <p:ext uri="{BB962C8B-B14F-4D97-AF65-F5344CB8AC3E}">
        <p14:creationId xmlns:p14="http://schemas.microsoft.com/office/powerpoint/2010/main" val="86740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ull-Page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ACF15DD-277E-394F-AFCE-926578BEF7F1}"/>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2D8B4FE-5E61-2942-9F67-A4F6AD7FECA1}"/>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 Placeholder 18">
            <a:extLst>
              <a:ext uri="{FF2B5EF4-FFF2-40B4-BE49-F238E27FC236}">
                <a16:creationId xmlns:a16="http://schemas.microsoft.com/office/drawing/2014/main" id="{62AB3FC8-2388-7847-86DB-E5B5333EACF3}"/>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7" name="Content Placeholder 18">
            <a:extLst>
              <a:ext uri="{FF2B5EF4-FFF2-40B4-BE49-F238E27FC236}">
                <a16:creationId xmlns:a16="http://schemas.microsoft.com/office/drawing/2014/main" id="{E61379B3-CA22-7E42-8FE3-E2D09D721962}"/>
              </a:ext>
            </a:extLst>
          </p:cNvPr>
          <p:cNvSpPr>
            <a:spLocks noGrp="1"/>
          </p:cNvSpPr>
          <p:nvPr>
            <p:ph sz="quarter" idx="16" hasCustomPrompt="1"/>
          </p:nvPr>
        </p:nvSpPr>
        <p:spPr>
          <a:xfrm>
            <a:off x="272085" y="863428"/>
            <a:ext cx="11589952" cy="4639906"/>
          </a:xfrm>
          <a:prstGeom prst="rect">
            <a:avLst/>
          </a:prstGeom>
        </p:spPr>
        <p:txBody>
          <a:bodyPr anchor="t"/>
          <a:lstStyle>
            <a:lvl1pPr marL="0" indent="0" algn="ctr">
              <a:buNone/>
              <a:defRPr i="1"/>
            </a:lvl1pPr>
          </a:lstStyle>
          <a:p>
            <a:pPr lvl="0"/>
            <a:r>
              <a:rPr lang="en-US" dirty="0"/>
              <a:t>Place image/chart here</a:t>
            </a:r>
          </a:p>
        </p:txBody>
      </p:sp>
    </p:spTree>
    <p:extLst>
      <p:ext uri="{BB962C8B-B14F-4D97-AF65-F5344CB8AC3E}">
        <p14:creationId xmlns:p14="http://schemas.microsoft.com/office/powerpoint/2010/main" val="823253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44EEE75-1C0C-DF43-8A1A-F55F70A0076A}"/>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933C26C-CF75-E04A-98EB-7AEC198CFEE8}"/>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 Placeholder 18">
            <a:extLst>
              <a:ext uri="{FF2B5EF4-FFF2-40B4-BE49-F238E27FC236}">
                <a16:creationId xmlns:a16="http://schemas.microsoft.com/office/drawing/2014/main" id="{AD0B3782-2422-A544-AEA8-0DA96AAE5510}"/>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14" name="Content Placeholder 18">
            <a:extLst>
              <a:ext uri="{FF2B5EF4-FFF2-40B4-BE49-F238E27FC236}">
                <a16:creationId xmlns:a16="http://schemas.microsoft.com/office/drawing/2014/main" id="{D44BC06C-7E1C-4845-973D-DCD63FB136FA}"/>
              </a:ext>
            </a:extLst>
          </p:cNvPr>
          <p:cNvSpPr>
            <a:spLocks noGrp="1"/>
          </p:cNvSpPr>
          <p:nvPr>
            <p:ph sz="quarter" idx="15" hasCustomPrompt="1"/>
          </p:nvPr>
        </p:nvSpPr>
        <p:spPr>
          <a:xfrm>
            <a:off x="6256867" y="863692"/>
            <a:ext cx="5604933" cy="4639642"/>
          </a:xfrm>
          <a:prstGeom prst="rect">
            <a:avLst/>
          </a:prstGeom>
        </p:spPr>
        <p:txBody>
          <a:bodyPr anchor="t"/>
          <a:lstStyle>
            <a:lvl1pPr marL="0" indent="0" algn="ctr">
              <a:buNone/>
              <a:defRPr i="1"/>
            </a:lvl1pPr>
          </a:lstStyle>
          <a:p>
            <a:pPr lvl="0"/>
            <a:r>
              <a:rPr lang="en-US" dirty="0"/>
              <a:t>Place image/chart here</a:t>
            </a:r>
          </a:p>
        </p:txBody>
      </p:sp>
      <p:sp>
        <p:nvSpPr>
          <p:cNvPr id="15" name="Content Placeholder 18">
            <a:extLst>
              <a:ext uri="{FF2B5EF4-FFF2-40B4-BE49-F238E27FC236}">
                <a16:creationId xmlns:a16="http://schemas.microsoft.com/office/drawing/2014/main" id="{AA93BCA3-E265-CD4C-9883-62DC1D15F3D7}"/>
              </a:ext>
            </a:extLst>
          </p:cNvPr>
          <p:cNvSpPr>
            <a:spLocks noGrp="1"/>
          </p:cNvSpPr>
          <p:nvPr>
            <p:ph sz="quarter" idx="16" hasCustomPrompt="1"/>
          </p:nvPr>
        </p:nvSpPr>
        <p:spPr>
          <a:xfrm>
            <a:off x="272085" y="863428"/>
            <a:ext cx="5612248" cy="4639906"/>
          </a:xfrm>
          <a:prstGeom prst="rect">
            <a:avLst/>
          </a:prstGeom>
        </p:spPr>
        <p:txBody>
          <a:bodyPr anchor="t"/>
          <a:lstStyle>
            <a:lvl1pPr marL="0" indent="0" algn="ctr">
              <a:buNone/>
              <a:defRPr i="1"/>
            </a:lvl1pPr>
          </a:lstStyle>
          <a:p>
            <a:pPr lvl="0"/>
            <a:r>
              <a:rPr lang="en-US" dirty="0"/>
              <a:t>Place image/chart here</a:t>
            </a:r>
          </a:p>
        </p:txBody>
      </p:sp>
    </p:spTree>
    <p:extLst>
      <p:ext uri="{BB962C8B-B14F-4D97-AF65-F5344CB8AC3E}">
        <p14:creationId xmlns:p14="http://schemas.microsoft.com/office/powerpoint/2010/main" val="1267019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06E70DBF-129D-BB48-BBFF-08F62952F603}"/>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FE58E4D-9595-E14C-8259-3EDBF9F54A84}"/>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8">
            <a:extLst>
              <a:ext uri="{FF2B5EF4-FFF2-40B4-BE49-F238E27FC236}">
                <a16:creationId xmlns:a16="http://schemas.microsoft.com/office/drawing/2014/main" id="{9CF2F8B1-9E2E-5040-B217-FCC725F9667F}"/>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17" name="Text Placeholder 16">
            <a:extLst>
              <a:ext uri="{FF2B5EF4-FFF2-40B4-BE49-F238E27FC236}">
                <a16:creationId xmlns:a16="http://schemas.microsoft.com/office/drawing/2014/main" id="{8BFBAF58-1BBE-824B-9BD9-DF65670E97E9}"/>
              </a:ext>
            </a:extLst>
          </p:cNvPr>
          <p:cNvSpPr>
            <a:spLocks noGrp="1"/>
          </p:cNvSpPr>
          <p:nvPr>
            <p:ph type="body" sz="quarter" idx="14" hasCustomPrompt="1"/>
          </p:nvPr>
        </p:nvSpPr>
        <p:spPr>
          <a:xfrm>
            <a:off x="264584" y="1873340"/>
            <a:ext cx="3471333" cy="3638461"/>
          </a:xfrm>
          <a:prstGeom prst="rect">
            <a:avLst/>
          </a:prstGeom>
        </p:spPr>
        <p:txBody>
          <a:bodyPr/>
          <a:lstStyle>
            <a:lvl1pPr marL="0" indent="0">
              <a:buNone/>
              <a:defRPr sz="2667"/>
            </a:lvl1pPr>
          </a:lstStyle>
          <a:p>
            <a:pPr lvl="0"/>
            <a:r>
              <a:rPr lang="en-US" dirty="0"/>
              <a:t>Click to add caption</a:t>
            </a:r>
          </a:p>
        </p:txBody>
      </p:sp>
      <p:sp>
        <p:nvSpPr>
          <p:cNvPr id="19" name="Content Placeholder 18">
            <a:extLst>
              <a:ext uri="{FF2B5EF4-FFF2-40B4-BE49-F238E27FC236}">
                <a16:creationId xmlns:a16="http://schemas.microsoft.com/office/drawing/2014/main" id="{80FC676F-AD0F-3045-85E2-F41B9DF0A6F3}"/>
              </a:ext>
            </a:extLst>
          </p:cNvPr>
          <p:cNvSpPr>
            <a:spLocks noGrp="1"/>
          </p:cNvSpPr>
          <p:nvPr>
            <p:ph sz="quarter" idx="15" hasCustomPrompt="1"/>
          </p:nvPr>
        </p:nvSpPr>
        <p:spPr>
          <a:xfrm>
            <a:off x="4000501" y="863692"/>
            <a:ext cx="7861300" cy="4639642"/>
          </a:xfrm>
          <a:prstGeom prst="rect">
            <a:avLst/>
          </a:prstGeom>
        </p:spPr>
        <p:txBody>
          <a:bodyPr anchor="t"/>
          <a:lstStyle>
            <a:lvl1pPr marL="0" indent="0" algn="ctr">
              <a:buNone/>
              <a:defRPr i="1"/>
            </a:lvl1pPr>
          </a:lstStyle>
          <a:p>
            <a:pPr lvl="0"/>
            <a:r>
              <a:rPr lang="en-US" dirty="0"/>
              <a:t>Place image/chart here</a:t>
            </a:r>
          </a:p>
        </p:txBody>
      </p:sp>
      <p:sp>
        <p:nvSpPr>
          <p:cNvPr id="2" name="Title 1">
            <a:extLst>
              <a:ext uri="{FF2B5EF4-FFF2-40B4-BE49-F238E27FC236}">
                <a16:creationId xmlns:a16="http://schemas.microsoft.com/office/drawing/2014/main" id="{58D9BD4C-94EB-2343-8337-134562E2917A}"/>
              </a:ext>
            </a:extLst>
          </p:cNvPr>
          <p:cNvSpPr>
            <a:spLocks noGrp="1"/>
          </p:cNvSpPr>
          <p:nvPr>
            <p:ph type="title" hasCustomPrompt="1"/>
          </p:nvPr>
        </p:nvSpPr>
        <p:spPr>
          <a:xfrm>
            <a:off x="264584" y="862676"/>
            <a:ext cx="3471333" cy="803182"/>
          </a:xfrm>
          <a:prstGeom prst="rect">
            <a:avLst/>
          </a:prstGeom>
        </p:spPr>
        <p:txBody>
          <a:bodyPr/>
          <a:lstStyle>
            <a:lvl1pPr algn="l">
              <a:defRPr sz="4267" b="1" i="0" baseline="0">
                <a:solidFill>
                  <a:schemeClr val="accent1"/>
                </a:solidFill>
              </a:defRPr>
            </a:lvl1pPr>
          </a:lstStyle>
          <a:p>
            <a:r>
              <a:rPr lang="en-US" dirty="0"/>
              <a:t>Main Header</a:t>
            </a:r>
          </a:p>
        </p:txBody>
      </p:sp>
    </p:spTree>
    <p:extLst>
      <p:ext uri="{BB962C8B-B14F-4D97-AF65-F5344CB8AC3E}">
        <p14:creationId xmlns:p14="http://schemas.microsoft.com/office/powerpoint/2010/main" val="1030281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81FDB69-C179-3341-AEF3-D2B3896FB825}"/>
              </a:ext>
            </a:extLst>
          </p:cNvPr>
          <p:cNvCxnSpPr/>
          <p:nvPr userDrawn="1"/>
        </p:nvCxnSpPr>
        <p:spPr>
          <a:xfrm>
            <a:off x="272085" y="513091"/>
            <a:ext cx="267474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58ECA973-8475-EF41-8C88-BE7633966CF5}"/>
              </a:ext>
            </a:extLst>
          </p:cNvPr>
          <p:cNvCxnSpPr/>
          <p:nvPr userDrawn="1"/>
        </p:nvCxnSpPr>
        <p:spPr>
          <a:xfrm>
            <a:off x="3376635" y="513091"/>
            <a:ext cx="8485403" cy="0"/>
          </a:xfrm>
          <a:prstGeom prst="line">
            <a:avLst/>
          </a:prstGeom>
          <a:ln w="127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8" name="Text Placeholder 18">
            <a:extLst>
              <a:ext uri="{FF2B5EF4-FFF2-40B4-BE49-F238E27FC236}">
                <a16:creationId xmlns:a16="http://schemas.microsoft.com/office/drawing/2014/main" id="{7DF7C01A-B350-7B45-A49E-C3717CC86D08}"/>
              </a:ext>
            </a:extLst>
          </p:cNvPr>
          <p:cNvSpPr>
            <a:spLocks noGrp="1"/>
          </p:cNvSpPr>
          <p:nvPr>
            <p:ph type="body" sz="quarter" idx="14"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9" name="Picture 8">
            <a:extLst>
              <a:ext uri="{FF2B5EF4-FFF2-40B4-BE49-F238E27FC236}">
                <a16:creationId xmlns:a16="http://schemas.microsoft.com/office/drawing/2014/main" id="{1282F3CD-3D17-914E-88EA-A50C55E2370A}"/>
              </a:ext>
            </a:extLst>
          </p:cNvPr>
          <p:cNvPicPr>
            <a:picLocks noChangeAspect="1"/>
          </p:cNvPicPr>
          <p:nvPr userDrawn="1"/>
        </p:nvPicPr>
        <p:blipFill>
          <a:blip r:embed="rId2"/>
          <a:stretch>
            <a:fillRect/>
          </a:stretch>
        </p:blipFill>
        <p:spPr>
          <a:xfrm>
            <a:off x="358433" y="198708"/>
            <a:ext cx="556192" cy="218591"/>
          </a:xfrm>
          <a:prstGeom prst="rect">
            <a:avLst/>
          </a:prstGeom>
        </p:spPr>
      </p:pic>
      <p:sp>
        <p:nvSpPr>
          <p:cNvPr id="2" name="Title 1">
            <a:extLst>
              <a:ext uri="{FF2B5EF4-FFF2-40B4-BE49-F238E27FC236}">
                <a16:creationId xmlns:a16="http://schemas.microsoft.com/office/drawing/2014/main" id="{C9CC0E3C-2123-DD4D-931C-F62C3737E69F}"/>
              </a:ext>
            </a:extLst>
          </p:cNvPr>
          <p:cNvSpPr>
            <a:spLocks noGrp="1"/>
          </p:cNvSpPr>
          <p:nvPr>
            <p:ph type="title" hasCustomPrompt="1"/>
          </p:nvPr>
        </p:nvSpPr>
        <p:spPr>
          <a:xfrm>
            <a:off x="272085" y="3987798"/>
            <a:ext cx="11589952" cy="1524000"/>
          </a:xfrm>
          <a:prstGeom prst="rect">
            <a:avLst/>
          </a:prstGeom>
        </p:spPr>
        <p:txBody>
          <a:bodyPr/>
          <a:lstStyle>
            <a:lvl1pPr algn="l">
              <a:defRPr sz="5330" b="1" i="0" baseline="0"/>
            </a:lvl1pPr>
          </a:lstStyle>
          <a:p>
            <a:r>
              <a:rPr lang="en-US" dirty="0"/>
              <a:t>Click to add Transition Title</a:t>
            </a:r>
          </a:p>
        </p:txBody>
      </p:sp>
    </p:spTree>
    <p:extLst>
      <p:ext uri="{BB962C8B-B14F-4D97-AF65-F5344CB8AC3E}">
        <p14:creationId xmlns:p14="http://schemas.microsoft.com/office/powerpoint/2010/main" val="2237931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or End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17F9755-C0DA-B244-B730-B308E60924F8}"/>
              </a:ext>
            </a:extLst>
          </p:cNvPr>
          <p:cNvSpPr/>
          <p:nvPr userDrawn="1"/>
        </p:nvSpPr>
        <p:spPr>
          <a:xfrm>
            <a:off x="0" y="0"/>
            <a:ext cx="12188952" cy="6858000"/>
          </a:xfrm>
          <a:prstGeom prst="rect">
            <a:avLst/>
          </a:prstGeom>
          <a:solidFill>
            <a:srgbClr val="E46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solidFill>
                <a:schemeClr val="accent1"/>
              </a:solidFill>
            </a:endParaRPr>
          </a:p>
        </p:txBody>
      </p:sp>
      <p:cxnSp>
        <p:nvCxnSpPr>
          <p:cNvPr id="12" name="Straight Connector 11">
            <a:extLst>
              <a:ext uri="{FF2B5EF4-FFF2-40B4-BE49-F238E27FC236}">
                <a16:creationId xmlns:a16="http://schemas.microsoft.com/office/drawing/2014/main" id="{257FF2CB-58B7-5049-BADD-41D07A0154D8}"/>
              </a:ext>
            </a:extLst>
          </p:cNvPr>
          <p:cNvCxnSpPr/>
          <p:nvPr userDrawn="1"/>
        </p:nvCxnSpPr>
        <p:spPr>
          <a:xfrm>
            <a:off x="272085" y="513091"/>
            <a:ext cx="2674747" cy="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B5B524D-D7AF-4B4A-B485-6A922EDBF1D0}"/>
              </a:ext>
            </a:extLst>
          </p:cNvPr>
          <p:cNvCxnSpPr/>
          <p:nvPr userDrawn="1"/>
        </p:nvCxnSpPr>
        <p:spPr>
          <a:xfrm>
            <a:off x="3376635" y="513091"/>
            <a:ext cx="8485403" cy="0"/>
          </a:xfrm>
          <a:prstGeom prst="line">
            <a:avLst/>
          </a:prstGeom>
          <a:ln w="1270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 Placeholder 18">
            <a:extLst>
              <a:ext uri="{FF2B5EF4-FFF2-40B4-BE49-F238E27FC236}">
                <a16:creationId xmlns:a16="http://schemas.microsoft.com/office/drawing/2014/main" id="{079EB260-1A7B-174A-AA51-12AAD061D7C6}"/>
              </a:ext>
            </a:extLst>
          </p:cNvPr>
          <p:cNvSpPr>
            <a:spLocks noGrp="1"/>
          </p:cNvSpPr>
          <p:nvPr>
            <p:ph type="body" sz="quarter" idx="14"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8" name="Picture 7">
            <a:extLst>
              <a:ext uri="{FF2B5EF4-FFF2-40B4-BE49-F238E27FC236}">
                <a16:creationId xmlns:a16="http://schemas.microsoft.com/office/drawing/2014/main" id="{519EDA26-0ACE-9A47-99A2-05436A5D85B4}"/>
              </a:ext>
            </a:extLst>
          </p:cNvPr>
          <p:cNvPicPr>
            <a:picLocks noChangeAspect="1"/>
          </p:cNvPicPr>
          <p:nvPr userDrawn="1"/>
        </p:nvPicPr>
        <p:blipFill>
          <a:blip r:embed="rId2"/>
          <a:stretch>
            <a:fillRect/>
          </a:stretch>
        </p:blipFill>
        <p:spPr>
          <a:xfrm>
            <a:off x="358433" y="198708"/>
            <a:ext cx="556192" cy="218591"/>
          </a:xfrm>
          <a:prstGeom prst="rect">
            <a:avLst/>
          </a:prstGeom>
        </p:spPr>
      </p:pic>
      <p:sp>
        <p:nvSpPr>
          <p:cNvPr id="2" name="Title 1">
            <a:extLst>
              <a:ext uri="{FF2B5EF4-FFF2-40B4-BE49-F238E27FC236}">
                <a16:creationId xmlns:a16="http://schemas.microsoft.com/office/drawing/2014/main" id="{21A29C41-3442-1A46-B586-6B645C5B9FCD}"/>
              </a:ext>
            </a:extLst>
          </p:cNvPr>
          <p:cNvSpPr>
            <a:spLocks noGrp="1"/>
          </p:cNvSpPr>
          <p:nvPr>
            <p:ph type="title" hasCustomPrompt="1"/>
          </p:nvPr>
        </p:nvSpPr>
        <p:spPr>
          <a:xfrm>
            <a:off x="272085" y="4256023"/>
            <a:ext cx="11589952" cy="1253062"/>
          </a:xfrm>
          <a:prstGeom prst="rect">
            <a:avLst/>
          </a:prstGeom>
        </p:spPr>
        <p:txBody>
          <a:bodyPr/>
          <a:lstStyle>
            <a:lvl1pPr algn="l">
              <a:defRPr sz="7200" b="1" i="0" baseline="0">
                <a:solidFill>
                  <a:schemeClr val="bg1"/>
                </a:solidFill>
              </a:defRPr>
            </a:lvl1pPr>
          </a:lstStyle>
          <a:p>
            <a:r>
              <a:rPr lang="en-US" dirty="0"/>
              <a:t>Click to add Section Title</a:t>
            </a:r>
          </a:p>
        </p:txBody>
      </p:sp>
    </p:spTree>
    <p:extLst>
      <p:ext uri="{BB962C8B-B14F-4D97-AF65-F5344CB8AC3E}">
        <p14:creationId xmlns:p14="http://schemas.microsoft.com/office/powerpoint/2010/main" val="1732084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Box 12"/>
          <p:cNvSpPr txBox="1"/>
          <p:nvPr/>
        </p:nvSpPr>
        <p:spPr>
          <a:xfrm>
            <a:off x="11476827" y="257543"/>
            <a:ext cx="1241077" cy="240066"/>
          </a:xfrm>
          <a:prstGeom prst="rect">
            <a:avLst/>
          </a:prstGeom>
          <a:noFill/>
        </p:spPr>
        <p:txBody>
          <a:bodyPr vert="horz" wrap="square" rtlCol="0">
            <a:spAutoFit/>
          </a:bodyPr>
          <a:lstStyle/>
          <a:p>
            <a:pPr algn="l">
              <a:lnSpc>
                <a:spcPct val="80000"/>
              </a:lnSpc>
            </a:pPr>
            <a:r>
              <a:rPr lang="en-US" sz="1200" dirty="0">
                <a:latin typeface="Georgia"/>
                <a:cs typeface="Georgia"/>
              </a:rPr>
              <a:t>|  </a:t>
            </a:r>
            <a:fld id="{606D2650-017B-BC48-A893-0334FE68CCF7}" type="slidenum">
              <a:rPr lang="en-US" sz="1133" smtClean="0">
                <a:latin typeface="Arial" panose="020B0604020202020204" pitchFamily="34" charset="0"/>
                <a:cs typeface="Arial" panose="020B0604020202020204" pitchFamily="34" charset="0"/>
              </a:rPr>
              <a:pPr algn="l">
                <a:lnSpc>
                  <a:spcPct val="80000"/>
                </a:lnSpc>
              </a:pPr>
              <a:t>‹#›</a:t>
            </a:fld>
            <a:endParaRPr lang="en-US" sz="1133" dirty="0">
              <a:solidFill>
                <a:srgbClr val="00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ED145F7-0212-424C-84CF-3AAA37DF7A2C}"/>
              </a:ext>
            </a:extLst>
          </p:cNvPr>
          <p:cNvPicPr>
            <a:picLocks noChangeAspect="1"/>
          </p:cNvPicPr>
          <p:nvPr userDrawn="1"/>
        </p:nvPicPr>
        <p:blipFill>
          <a:blip r:embed="rId10"/>
          <a:stretch>
            <a:fillRect/>
          </a:stretch>
        </p:blipFill>
        <p:spPr>
          <a:xfrm>
            <a:off x="358433" y="198708"/>
            <a:ext cx="556192" cy="218591"/>
          </a:xfrm>
          <a:prstGeom prst="rect">
            <a:avLst/>
          </a:prstGeom>
        </p:spPr>
      </p:pic>
      <p:pic>
        <p:nvPicPr>
          <p:cNvPr id="10" name="Picture 9">
            <a:extLst>
              <a:ext uri="{FF2B5EF4-FFF2-40B4-BE49-F238E27FC236}">
                <a16:creationId xmlns:a16="http://schemas.microsoft.com/office/drawing/2014/main" id="{2CF6F6C9-18D5-3341-8495-872E5DE457C6}"/>
              </a:ext>
            </a:extLst>
          </p:cNvPr>
          <p:cNvPicPr>
            <a:picLocks noChangeAspect="1"/>
          </p:cNvPicPr>
          <p:nvPr userDrawn="1"/>
        </p:nvPicPr>
        <p:blipFill>
          <a:blip r:embed="rId11"/>
          <a:stretch>
            <a:fillRect/>
          </a:stretch>
        </p:blipFill>
        <p:spPr>
          <a:xfrm>
            <a:off x="9218566" y="304811"/>
            <a:ext cx="2258261" cy="134956"/>
          </a:xfrm>
          <a:prstGeom prst="rect">
            <a:avLst/>
          </a:prstGeom>
        </p:spPr>
      </p:pic>
    </p:spTree>
    <p:extLst>
      <p:ext uri="{BB962C8B-B14F-4D97-AF65-F5344CB8AC3E}">
        <p14:creationId xmlns:p14="http://schemas.microsoft.com/office/powerpoint/2010/main" val="1699808712"/>
      </p:ext>
    </p:extLst>
  </p:cSld>
  <p:clrMap bg1="lt1" tx1="dk1" bg2="lt2" tx2="dk2" accent1="accent1" accent2="accent2" accent3="accent3" accent4="accent4" accent5="accent5" accent6="accent6" hlink="hlink" folHlink="folHlink"/>
  <p:sldLayoutIdLst>
    <p:sldLayoutId id="2147483665" r:id="rId1"/>
    <p:sldLayoutId id="2147483677" r:id="rId2"/>
    <p:sldLayoutId id="2147483678" r:id="rId3"/>
    <p:sldLayoutId id="2147483679" r:id="rId4"/>
    <p:sldLayoutId id="2147483680" r:id="rId5"/>
    <p:sldLayoutId id="2147483681" r:id="rId6"/>
    <p:sldLayoutId id="2147483682" r:id="rId7"/>
    <p:sldLayoutId id="2147483683" r:id="rId8"/>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1E724EE-C89A-7B45-9CBB-44295CCB950E}"/>
              </a:ext>
            </a:extLst>
          </p:cNvPr>
          <p:cNvSpPr>
            <a:spLocks noGrp="1"/>
          </p:cNvSpPr>
          <p:nvPr>
            <p:ph type="body" sz="quarter" idx="16"/>
          </p:nvPr>
        </p:nvSpPr>
        <p:spPr/>
        <p:txBody>
          <a:bodyPr/>
          <a:lstStyle/>
          <a:p>
            <a:endParaRPr lang="en-US" dirty="0"/>
          </a:p>
        </p:txBody>
      </p:sp>
      <p:sp>
        <p:nvSpPr>
          <p:cNvPr id="4" name="Text Placeholder 3">
            <a:extLst>
              <a:ext uri="{FF2B5EF4-FFF2-40B4-BE49-F238E27FC236}">
                <a16:creationId xmlns:a16="http://schemas.microsoft.com/office/drawing/2014/main" id="{9474F92A-6198-1742-B0A4-23BA8B3D5205}"/>
              </a:ext>
            </a:extLst>
          </p:cNvPr>
          <p:cNvSpPr>
            <a:spLocks noGrp="1"/>
          </p:cNvSpPr>
          <p:nvPr>
            <p:ph type="body" sz="quarter" idx="11"/>
          </p:nvPr>
        </p:nvSpPr>
        <p:spPr>
          <a:xfrm>
            <a:off x="468845" y="5108384"/>
            <a:ext cx="5421167" cy="338554"/>
          </a:xfrm>
        </p:spPr>
        <p:txBody>
          <a:bodyPr/>
          <a:lstStyle/>
          <a:p>
            <a:r>
              <a:rPr lang="en-US" dirty="0"/>
              <a:t>Rochester Institute of Technology</a:t>
            </a:r>
          </a:p>
        </p:txBody>
      </p:sp>
      <p:sp>
        <p:nvSpPr>
          <p:cNvPr id="2" name="Title 1">
            <a:extLst>
              <a:ext uri="{FF2B5EF4-FFF2-40B4-BE49-F238E27FC236}">
                <a16:creationId xmlns:a16="http://schemas.microsoft.com/office/drawing/2014/main" id="{3AC88C61-B040-E84F-82A1-8377A17686A2}"/>
              </a:ext>
            </a:extLst>
          </p:cNvPr>
          <p:cNvSpPr>
            <a:spLocks noGrp="1"/>
          </p:cNvSpPr>
          <p:nvPr>
            <p:ph type="title"/>
          </p:nvPr>
        </p:nvSpPr>
        <p:spPr>
          <a:xfrm>
            <a:off x="349383" y="246613"/>
            <a:ext cx="5899017" cy="1560866"/>
          </a:xfrm>
        </p:spPr>
        <p:txBody>
          <a:bodyPr>
            <a:noAutofit/>
          </a:bodyPr>
          <a:lstStyle/>
          <a:p>
            <a:r>
              <a:rPr lang="en-US" sz="4400" dirty="0"/>
              <a:t>Deep Sequential Architectures for Financial Time Series Classification</a:t>
            </a:r>
            <a:br>
              <a:rPr lang="en-US" sz="4400" dirty="0"/>
            </a:br>
            <a:br>
              <a:rPr lang="en-US" sz="4400" dirty="0"/>
            </a:br>
            <a:endParaRPr lang="en-US" sz="4400" dirty="0"/>
          </a:p>
        </p:txBody>
      </p:sp>
      <p:sp>
        <p:nvSpPr>
          <p:cNvPr id="6" name="Title 1">
            <a:extLst>
              <a:ext uri="{FF2B5EF4-FFF2-40B4-BE49-F238E27FC236}">
                <a16:creationId xmlns:a16="http://schemas.microsoft.com/office/drawing/2014/main" id="{3A9869D7-0027-9647-8A2E-64FE37154588}"/>
              </a:ext>
            </a:extLst>
          </p:cNvPr>
          <p:cNvSpPr txBox="1">
            <a:spLocks/>
          </p:cNvSpPr>
          <p:nvPr/>
        </p:nvSpPr>
        <p:spPr>
          <a:xfrm>
            <a:off x="349383" y="3031320"/>
            <a:ext cx="5899017" cy="659087"/>
          </a:xfrm>
          <a:prstGeom prst="rect">
            <a:avLst/>
          </a:prstGeom>
        </p:spPr>
        <p:txBody>
          <a:bodyPr/>
          <a:lstStyle>
            <a:lvl1pPr algn="l" defTabSz="609585" rtl="0" eaLnBrk="1" latinLnBrk="0" hangingPunct="1">
              <a:spcBef>
                <a:spcPct val="0"/>
              </a:spcBef>
              <a:buNone/>
              <a:defRPr sz="6000" b="1" i="0" kern="1200" baseline="0">
                <a:solidFill>
                  <a:schemeClr val="accent1"/>
                </a:solidFill>
                <a:latin typeface="+mj-lt"/>
                <a:ea typeface="+mj-ea"/>
                <a:cs typeface="+mj-cs"/>
              </a:defRPr>
            </a:lvl1pPr>
          </a:lstStyle>
          <a:p>
            <a:r>
              <a:rPr lang="en-US" sz="2400" dirty="0">
                <a:solidFill>
                  <a:srgbClr val="0070C0"/>
                </a:solidFill>
              </a:rPr>
              <a:t>CMPE 679 Deep Learning Project Progress Report</a:t>
            </a:r>
          </a:p>
          <a:p>
            <a:br>
              <a:rPr lang="en-US" sz="2400" dirty="0">
                <a:solidFill>
                  <a:srgbClr val="0070C0"/>
                </a:solidFill>
              </a:rPr>
            </a:br>
            <a:endParaRPr lang="en-US" sz="2400" dirty="0">
              <a:solidFill>
                <a:srgbClr val="0070C0"/>
              </a:solidFill>
            </a:endParaRPr>
          </a:p>
        </p:txBody>
      </p:sp>
      <p:sp>
        <p:nvSpPr>
          <p:cNvPr id="8" name="Text Placeholder 7">
            <a:extLst>
              <a:ext uri="{FF2B5EF4-FFF2-40B4-BE49-F238E27FC236}">
                <a16:creationId xmlns:a16="http://schemas.microsoft.com/office/drawing/2014/main" id="{3EBC1857-4BF2-3C93-C074-74D40BE94F6A}"/>
              </a:ext>
            </a:extLst>
          </p:cNvPr>
          <p:cNvSpPr>
            <a:spLocks noGrp="1"/>
          </p:cNvSpPr>
          <p:nvPr>
            <p:ph type="body" sz="quarter" idx="10"/>
          </p:nvPr>
        </p:nvSpPr>
        <p:spPr>
          <a:xfrm>
            <a:off x="349384" y="4371948"/>
            <a:ext cx="5421167" cy="615553"/>
          </a:xfrm>
        </p:spPr>
        <p:txBody>
          <a:bodyPr/>
          <a:lstStyle/>
          <a:p>
            <a:pPr algn="ctr"/>
            <a:r>
              <a:rPr lang="en-US" dirty="0"/>
              <a:t>Obumneme </a:t>
            </a:r>
            <a:r>
              <a:rPr lang="en-US" dirty="0" err="1"/>
              <a:t>Umeonwuka</a:t>
            </a:r>
            <a:r>
              <a:rPr lang="en-US" dirty="0"/>
              <a:t> &amp; Gloria Mbaka</a:t>
            </a:r>
          </a:p>
          <a:p>
            <a:endParaRPr lang="en-US" dirty="0"/>
          </a:p>
        </p:txBody>
      </p:sp>
    </p:spTree>
    <p:extLst>
      <p:ext uri="{BB962C8B-B14F-4D97-AF65-F5344CB8AC3E}">
        <p14:creationId xmlns:p14="http://schemas.microsoft.com/office/powerpoint/2010/main" val="398490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C2FA116-8A36-E240-8358-67CD7B009CCD}"/>
              </a:ext>
            </a:extLst>
          </p:cNvPr>
          <p:cNvSpPr>
            <a:spLocks noGrp="1"/>
          </p:cNvSpPr>
          <p:nvPr>
            <p:ph type="body" sz="quarter" idx="12"/>
          </p:nvPr>
        </p:nvSpPr>
        <p:spPr>
          <a:xfrm>
            <a:off x="802663" y="1387999"/>
            <a:ext cx="7533337" cy="4599152"/>
          </a:xfrm>
        </p:spPr>
        <p:txBody>
          <a:bodyPr/>
          <a:lstStyle/>
          <a:p>
            <a:r>
              <a:rPr lang="en-US" sz="1800" dirty="0"/>
              <a:t>Problem and Motivation</a:t>
            </a:r>
          </a:p>
          <a:p>
            <a:r>
              <a:rPr lang="en-US" sz="1800" dirty="0"/>
              <a:t>Research Question and Hypothesis</a:t>
            </a:r>
          </a:p>
          <a:p>
            <a:r>
              <a:rPr lang="en-US" sz="1800" dirty="0"/>
              <a:t>Background/Literature Review </a:t>
            </a:r>
          </a:p>
          <a:p>
            <a:r>
              <a:rPr lang="en-US" sz="1800" dirty="0"/>
              <a:t>Dataset and Problem Setup</a:t>
            </a:r>
          </a:p>
          <a:p>
            <a:r>
              <a:rPr lang="en-US" sz="1800" dirty="0"/>
              <a:t>Model Architectures</a:t>
            </a:r>
          </a:p>
          <a:p>
            <a:r>
              <a:rPr lang="en-US" sz="1800" dirty="0"/>
              <a:t>Training and Evaluation</a:t>
            </a:r>
          </a:p>
          <a:p>
            <a:r>
              <a:rPr lang="en-US" sz="1800" dirty="0"/>
              <a:t>Overall Classification Results</a:t>
            </a:r>
          </a:p>
          <a:p>
            <a:r>
              <a:rPr lang="en-US" sz="1800" dirty="0"/>
              <a:t>Calibration and Confidence</a:t>
            </a:r>
          </a:p>
          <a:p>
            <a:r>
              <a:rPr lang="en-US" sz="1800" dirty="0" err="1"/>
              <a:t>Backtesting</a:t>
            </a:r>
            <a:r>
              <a:rPr lang="en-US" sz="1800" dirty="0"/>
              <a:t> Results</a:t>
            </a:r>
          </a:p>
          <a:p>
            <a:r>
              <a:rPr lang="en-US" sz="1800" dirty="0"/>
              <a:t>Future Work</a:t>
            </a:r>
          </a:p>
        </p:txBody>
      </p:sp>
      <p:sp>
        <p:nvSpPr>
          <p:cNvPr id="9" name="Text Placeholder 8">
            <a:extLst>
              <a:ext uri="{FF2B5EF4-FFF2-40B4-BE49-F238E27FC236}">
                <a16:creationId xmlns:a16="http://schemas.microsoft.com/office/drawing/2014/main" id="{416E84DA-B043-B84F-BE0C-BB02FBB5CE1C}"/>
              </a:ext>
            </a:extLst>
          </p:cNvPr>
          <p:cNvSpPr>
            <a:spLocks noGrp="1"/>
          </p:cNvSpPr>
          <p:nvPr>
            <p:ph type="body" sz="quarter" idx="13"/>
          </p:nvPr>
        </p:nvSpPr>
        <p:spPr/>
        <p:txBody>
          <a:bodyPr/>
          <a:lstStyle/>
          <a:p>
            <a:endParaRPr lang="en-US" dirty="0"/>
          </a:p>
        </p:txBody>
      </p:sp>
      <p:sp>
        <p:nvSpPr>
          <p:cNvPr id="6" name="Title 5">
            <a:extLst>
              <a:ext uri="{FF2B5EF4-FFF2-40B4-BE49-F238E27FC236}">
                <a16:creationId xmlns:a16="http://schemas.microsoft.com/office/drawing/2014/main" id="{BBF196AC-E991-C045-9135-B9CB5AC81CCB}"/>
              </a:ext>
            </a:extLst>
          </p:cNvPr>
          <p:cNvSpPr>
            <a:spLocks noGrp="1"/>
          </p:cNvSpPr>
          <p:nvPr>
            <p:ph type="title"/>
          </p:nvPr>
        </p:nvSpPr>
        <p:spPr>
          <a:xfrm>
            <a:off x="272085" y="608189"/>
            <a:ext cx="11264595" cy="751929"/>
          </a:xfrm>
        </p:spPr>
        <p:txBody>
          <a:bodyPr/>
          <a:lstStyle/>
          <a:p>
            <a:pPr algn="ctr"/>
            <a:r>
              <a:rPr lang="en-US" sz="3700" dirty="0"/>
              <a:t>Outline</a:t>
            </a:r>
          </a:p>
        </p:txBody>
      </p:sp>
    </p:spTree>
    <p:extLst>
      <p:ext uri="{BB962C8B-B14F-4D97-AF65-F5344CB8AC3E}">
        <p14:creationId xmlns:p14="http://schemas.microsoft.com/office/powerpoint/2010/main" val="4251840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D0DEF6-1001-104D-826A-1DC2BB88DB83}"/>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87A9D83E-3BA9-214D-9245-7BB33BD68AD5}"/>
              </a:ext>
            </a:extLst>
          </p:cNvPr>
          <p:cNvSpPr>
            <a:spLocks noGrp="1"/>
          </p:cNvSpPr>
          <p:nvPr>
            <p:ph type="body" sz="quarter" idx="15"/>
          </p:nvPr>
        </p:nvSpPr>
        <p:spPr>
          <a:xfrm>
            <a:off x="272084" y="1591289"/>
            <a:ext cx="4943383" cy="3138756"/>
          </a:xfrm>
        </p:spPr>
        <p:txBody>
          <a:bodyPr/>
          <a:lstStyle/>
          <a:p>
            <a:r>
              <a:rPr lang="en-US" sz="2000" dirty="0"/>
              <a:t>Problem</a:t>
            </a:r>
          </a:p>
          <a:p>
            <a:pPr lvl="1"/>
            <a:r>
              <a:rPr lang="en-US" sz="1800" dirty="0"/>
              <a:t>Short-horizon financial prediction is difficult </a:t>
            </a:r>
          </a:p>
          <a:p>
            <a:pPr lvl="1"/>
            <a:endParaRPr lang="en-US" sz="1800" dirty="0"/>
          </a:p>
          <a:p>
            <a:pPr lvl="1"/>
            <a:r>
              <a:rPr lang="en-US" sz="1800" dirty="0"/>
              <a:t>Minute-level Bitcoin data are noisy, nonlinear, and non-stationary </a:t>
            </a:r>
          </a:p>
          <a:p>
            <a:pPr lvl="1"/>
            <a:endParaRPr lang="en-US" sz="1800" dirty="0"/>
          </a:p>
          <a:p>
            <a:pPr lvl="1"/>
            <a:r>
              <a:rPr lang="en-US" sz="1800" dirty="0"/>
              <a:t>Signal-to-noise ratio is very low at high frequency</a:t>
            </a:r>
          </a:p>
          <a:p>
            <a:pPr marL="304793" lvl="1" indent="0">
              <a:buNone/>
            </a:pPr>
            <a:endParaRPr lang="en-US" sz="1600" dirty="0"/>
          </a:p>
          <a:p>
            <a:pPr lvl="1"/>
            <a:endParaRPr lang="en-US" sz="2000" dirty="0"/>
          </a:p>
        </p:txBody>
      </p:sp>
      <p:sp>
        <p:nvSpPr>
          <p:cNvPr id="4" name="Title 3">
            <a:extLst>
              <a:ext uri="{FF2B5EF4-FFF2-40B4-BE49-F238E27FC236}">
                <a16:creationId xmlns:a16="http://schemas.microsoft.com/office/drawing/2014/main" id="{1CA70D4E-4B9D-DC40-9817-4A0D3A20B438}"/>
              </a:ext>
            </a:extLst>
          </p:cNvPr>
          <p:cNvSpPr>
            <a:spLocks noGrp="1"/>
          </p:cNvSpPr>
          <p:nvPr>
            <p:ph type="title"/>
          </p:nvPr>
        </p:nvSpPr>
        <p:spPr>
          <a:xfrm>
            <a:off x="272085" y="689919"/>
            <a:ext cx="10355658" cy="696384"/>
          </a:xfrm>
        </p:spPr>
        <p:txBody>
          <a:bodyPr/>
          <a:lstStyle/>
          <a:p>
            <a:pPr algn="ctr"/>
            <a:r>
              <a:rPr lang="en-US" dirty="0"/>
              <a:t>Problem and Motivation</a:t>
            </a:r>
          </a:p>
        </p:txBody>
      </p:sp>
      <p:sp>
        <p:nvSpPr>
          <p:cNvPr id="7" name="Text Placeholder 2">
            <a:extLst>
              <a:ext uri="{FF2B5EF4-FFF2-40B4-BE49-F238E27FC236}">
                <a16:creationId xmlns:a16="http://schemas.microsoft.com/office/drawing/2014/main" id="{636E4D25-D9DA-2A4F-56A2-4A22AFAB2FAB}"/>
              </a:ext>
            </a:extLst>
          </p:cNvPr>
          <p:cNvSpPr txBox="1">
            <a:spLocks/>
          </p:cNvSpPr>
          <p:nvPr/>
        </p:nvSpPr>
        <p:spPr>
          <a:xfrm>
            <a:off x="5854439" y="1591289"/>
            <a:ext cx="4943383" cy="3138756"/>
          </a:xfrm>
          <a:prstGeom prst="rect">
            <a:avLst/>
          </a:prstGeom>
        </p:spPr>
        <p:txBody>
          <a:bodyPr/>
          <a:lstStyle>
            <a:lvl1pPr marL="304792" indent="-304792" algn="l" defTabSz="609585" rtl="0" eaLnBrk="1" latinLnBrk="0" hangingPunct="1">
              <a:spcBef>
                <a:spcPct val="20000"/>
              </a:spcBef>
              <a:buClr>
                <a:schemeClr val="accent1"/>
              </a:buClr>
              <a:buSzPct val="100000"/>
              <a:buFont typeface="Wingdings" pitchFamily="2" charset="2"/>
              <a:buChar char="§"/>
              <a:tabLst/>
              <a:defRPr sz="3200" b="1" kern="1200">
                <a:solidFill>
                  <a:schemeClr val="tx1"/>
                </a:solidFill>
                <a:latin typeface="+mn-lt"/>
                <a:ea typeface="+mn-ea"/>
                <a:cs typeface="+mn-cs"/>
              </a:defRPr>
            </a:lvl1pPr>
            <a:lvl2pPr marL="609585" indent="-304792" algn="l" defTabSz="609585" rtl="0" eaLnBrk="1" latinLnBrk="0" hangingPunct="1">
              <a:spcBef>
                <a:spcPct val="20000"/>
              </a:spcBef>
              <a:buClr>
                <a:srgbClr val="E46102"/>
              </a:buClr>
              <a:buFont typeface="Arial" panose="020B0604020202020204" pitchFamily="34" charset="0"/>
              <a:buChar char="•"/>
              <a:tabLst/>
              <a:defRPr sz="2667" kern="1200">
                <a:solidFill>
                  <a:schemeClr val="tx1"/>
                </a:solidFill>
                <a:latin typeface="+mn-lt"/>
                <a:ea typeface="+mn-ea"/>
                <a:cs typeface="+mn-cs"/>
              </a:defRPr>
            </a:lvl2pPr>
            <a:lvl3pPr marL="914377" indent="-304792" algn="l" defTabSz="609585" rtl="0" eaLnBrk="1" latinLnBrk="0" hangingPunct="1">
              <a:spcBef>
                <a:spcPct val="20000"/>
              </a:spcBef>
              <a:buClr>
                <a:srgbClr val="E46102"/>
              </a:buClr>
              <a:buSzPct val="100000"/>
              <a:buFont typeface="Wingdings" pitchFamily="2" charset="2"/>
              <a:buChar char="§"/>
              <a:tabLst/>
              <a:defRPr sz="2400" kern="1200">
                <a:solidFill>
                  <a:schemeClr val="tx1"/>
                </a:solidFill>
                <a:latin typeface="+mn-lt"/>
                <a:ea typeface="+mn-ea"/>
                <a:cs typeface="+mn-cs"/>
              </a:defRPr>
            </a:lvl3pPr>
            <a:lvl4pPr marL="1221287" indent="-306910" algn="l" defTabSz="609585" rtl="0" eaLnBrk="1" latinLnBrk="0" hangingPunct="1">
              <a:spcBef>
                <a:spcPct val="20000"/>
              </a:spcBef>
              <a:buClr>
                <a:srgbClr val="D95E00"/>
              </a:buClr>
              <a:buFont typeface="System Font Regular"/>
              <a:buChar char="&gt;"/>
              <a:tabLst/>
              <a:defRPr sz="2133" kern="1200">
                <a:solidFill>
                  <a:schemeClr val="tx1"/>
                </a:solidFill>
                <a:latin typeface="+mn-lt"/>
                <a:ea typeface="+mn-ea"/>
                <a:cs typeface="+mn-cs"/>
              </a:defRPr>
            </a:lvl4pPr>
            <a:lvl5pPr marL="1526079" indent="-304792" algn="l" defTabSz="609585" rtl="0" eaLnBrk="1" latinLnBrk="0" hangingPunct="1">
              <a:spcBef>
                <a:spcPct val="20000"/>
              </a:spcBef>
              <a:buClr>
                <a:srgbClr val="D95E00"/>
              </a:buClr>
              <a:buFont typeface="Wingdings" pitchFamily="2" charset="2"/>
              <a:buChar char="§"/>
              <a:tabLst/>
              <a:defRPr sz="1867" kern="1200">
                <a:solidFill>
                  <a:schemeClr val="tx1"/>
                </a:solidFill>
                <a:latin typeface="+mn-lt"/>
                <a:ea typeface="+mn-ea"/>
                <a:cs typeface="+mn-cs"/>
              </a:defRPr>
            </a:lvl5pPr>
            <a:lvl6pPr marL="1756789" indent="-230712" algn="l" defTabSz="609585" rtl="0" eaLnBrk="1" latinLnBrk="0" hangingPunct="1">
              <a:spcBef>
                <a:spcPct val="20000"/>
              </a:spcBef>
              <a:buClr>
                <a:srgbClr val="D95E00"/>
              </a:buClr>
              <a:buFont typeface="System Font Regular"/>
              <a:buChar char="&gt;"/>
              <a:tabLst/>
              <a:defRPr sz="1600" kern="1200">
                <a:solidFill>
                  <a:schemeClr val="tx1"/>
                </a:solidFill>
                <a:latin typeface="+mn-lt"/>
                <a:ea typeface="+mn-ea"/>
                <a:cs typeface="+mn-cs"/>
              </a:defRPr>
            </a:lvl6pPr>
            <a:lvl7pPr marL="1904952" indent="-148163" algn="l" defTabSz="609585" rtl="0" eaLnBrk="1" latinLnBrk="0" hangingPunct="1">
              <a:spcBef>
                <a:spcPct val="20000"/>
              </a:spcBef>
              <a:buClr>
                <a:srgbClr val="D95E00"/>
              </a:buClr>
              <a:buFont typeface="Wingdings" pitchFamily="2" charset="2"/>
              <a:buChar char="§"/>
              <a:tabLst/>
              <a:defRPr sz="1333" kern="1200">
                <a:solidFill>
                  <a:schemeClr val="tx1"/>
                </a:solidFill>
                <a:latin typeface="+mn-lt"/>
                <a:ea typeface="+mn-ea"/>
                <a:cs typeface="+mn-cs"/>
              </a:defRPr>
            </a:lvl7pPr>
            <a:lvl8pPr marL="2061582" indent="-156629" algn="l" defTabSz="609585" rtl="0" eaLnBrk="1" latinLnBrk="0" hangingPunct="1">
              <a:spcBef>
                <a:spcPct val="20000"/>
              </a:spcBef>
              <a:buClr>
                <a:srgbClr val="D95E00"/>
              </a:buClr>
              <a:buFont typeface="System Font Regular"/>
              <a:buChar char="&gt;"/>
              <a:tabLst/>
              <a:defRPr sz="12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2000" dirty="0"/>
              <a:t>Motivation</a:t>
            </a:r>
          </a:p>
          <a:p>
            <a:pPr lvl="1"/>
            <a:r>
              <a:rPr lang="en-US" sz="1800" dirty="0"/>
              <a:t>Classical models do not explicitly model temporal structure </a:t>
            </a:r>
          </a:p>
          <a:p>
            <a:pPr lvl="1"/>
            <a:endParaRPr lang="en-US" sz="1800" dirty="0"/>
          </a:p>
          <a:p>
            <a:pPr lvl="1"/>
            <a:r>
              <a:rPr lang="en-US" sz="1800" dirty="0"/>
              <a:t>Deep sequence models may capture temporal dependencies better </a:t>
            </a:r>
          </a:p>
          <a:p>
            <a:pPr lvl="1"/>
            <a:endParaRPr lang="en-US" sz="1800" dirty="0"/>
          </a:p>
          <a:p>
            <a:pPr lvl="1"/>
            <a:r>
              <a:rPr lang="en-US" sz="1800" dirty="0"/>
              <a:t>Important to test whether more complex models actually improve prediction and trading usefulness</a:t>
            </a:r>
          </a:p>
          <a:p>
            <a:pPr lvl="1"/>
            <a:endParaRPr lang="en-US" sz="2000" dirty="0"/>
          </a:p>
        </p:txBody>
      </p:sp>
      <p:sp>
        <p:nvSpPr>
          <p:cNvPr id="9" name="TextBox 8">
            <a:extLst>
              <a:ext uri="{FF2B5EF4-FFF2-40B4-BE49-F238E27FC236}">
                <a16:creationId xmlns:a16="http://schemas.microsoft.com/office/drawing/2014/main" id="{BCE5A28A-A927-436E-75C3-475E38AE59F8}"/>
              </a:ext>
            </a:extLst>
          </p:cNvPr>
          <p:cNvSpPr txBox="1"/>
          <p:nvPr/>
        </p:nvSpPr>
        <p:spPr>
          <a:xfrm>
            <a:off x="2669485" y="-85179"/>
            <a:ext cx="6369908" cy="707886"/>
          </a:xfrm>
          <a:prstGeom prst="rect">
            <a:avLst/>
          </a:prstGeom>
          <a:noFill/>
        </p:spPr>
        <p:txBody>
          <a:bodyPr wrap="square">
            <a:spAutoFit/>
          </a:bodyPr>
          <a:lstStyle/>
          <a:p>
            <a:r>
              <a:rPr lang="en-US" sz="4000" b="1" dirty="0"/>
              <a:t>Problem &amp; Background</a:t>
            </a:r>
          </a:p>
        </p:txBody>
      </p:sp>
    </p:spTree>
    <p:extLst>
      <p:ext uri="{BB962C8B-B14F-4D97-AF65-F5344CB8AC3E}">
        <p14:creationId xmlns:p14="http://schemas.microsoft.com/office/powerpoint/2010/main" val="3172757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0A0165-C2D5-5D48-9FE7-A3A69B749743}"/>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376060DA-52EB-1844-AA73-AC282F2E5892}"/>
              </a:ext>
            </a:extLst>
          </p:cNvPr>
          <p:cNvSpPr>
            <a:spLocks noGrp="1"/>
          </p:cNvSpPr>
          <p:nvPr>
            <p:ph type="body" sz="quarter" idx="15"/>
          </p:nvPr>
        </p:nvSpPr>
        <p:spPr>
          <a:xfrm>
            <a:off x="703885" y="1738670"/>
            <a:ext cx="5170831" cy="3767575"/>
          </a:xfrm>
        </p:spPr>
        <p:txBody>
          <a:bodyPr/>
          <a:lstStyle/>
          <a:p>
            <a:r>
              <a:rPr lang="en-US" sz="2000" dirty="0"/>
              <a:t>Research Question</a:t>
            </a:r>
          </a:p>
          <a:p>
            <a:pPr lvl="1"/>
            <a:r>
              <a:rPr lang="en-US" sz="1800" dirty="0"/>
              <a:t>How do different sequential deep learning architectures compare in learning temporal representations for short-horizon Bitcoin direction prediction?</a:t>
            </a:r>
          </a:p>
          <a:p>
            <a:endParaRPr lang="en-US" sz="2400" dirty="0"/>
          </a:p>
        </p:txBody>
      </p:sp>
      <p:sp>
        <p:nvSpPr>
          <p:cNvPr id="4" name="Title 3">
            <a:extLst>
              <a:ext uri="{FF2B5EF4-FFF2-40B4-BE49-F238E27FC236}">
                <a16:creationId xmlns:a16="http://schemas.microsoft.com/office/drawing/2014/main" id="{1A63CB79-02A5-B84A-8441-B4F406299A9D}"/>
              </a:ext>
            </a:extLst>
          </p:cNvPr>
          <p:cNvSpPr>
            <a:spLocks noGrp="1"/>
          </p:cNvSpPr>
          <p:nvPr>
            <p:ph type="title"/>
          </p:nvPr>
        </p:nvSpPr>
        <p:spPr>
          <a:xfrm>
            <a:off x="272085" y="699649"/>
            <a:ext cx="10355658" cy="696384"/>
          </a:xfrm>
        </p:spPr>
        <p:txBody>
          <a:bodyPr/>
          <a:lstStyle/>
          <a:p>
            <a:pPr algn="ctr"/>
            <a:r>
              <a:rPr lang="en-US" dirty="0"/>
              <a:t>Research Question and Hypothesis</a:t>
            </a:r>
          </a:p>
        </p:txBody>
      </p:sp>
      <p:sp>
        <p:nvSpPr>
          <p:cNvPr id="5" name="Text Placeholder 2">
            <a:extLst>
              <a:ext uri="{FF2B5EF4-FFF2-40B4-BE49-F238E27FC236}">
                <a16:creationId xmlns:a16="http://schemas.microsoft.com/office/drawing/2014/main" id="{6057A9B1-5F99-07FA-4FD1-3586366C66C3}"/>
              </a:ext>
            </a:extLst>
          </p:cNvPr>
          <p:cNvSpPr txBox="1">
            <a:spLocks/>
          </p:cNvSpPr>
          <p:nvPr/>
        </p:nvSpPr>
        <p:spPr>
          <a:xfrm>
            <a:off x="6317285" y="1738671"/>
            <a:ext cx="5434448" cy="3767575"/>
          </a:xfrm>
          <a:prstGeom prst="rect">
            <a:avLst/>
          </a:prstGeom>
        </p:spPr>
        <p:txBody>
          <a:bodyPr/>
          <a:lstStyle>
            <a:lvl1pPr marL="304792" indent="-304792" algn="l" defTabSz="609585" rtl="0" eaLnBrk="1" latinLnBrk="0" hangingPunct="1">
              <a:spcBef>
                <a:spcPct val="20000"/>
              </a:spcBef>
              <a:buClr>
                <a:schemeClr val="accent1"/>
              </a:buClr>
              <a:buSzPct val="100000"/>
              <a:buFont typeface="Wingdings" pitchFamily="2" charset="2"/>
              <a:buChar char="§"/>
              <a:tabLst/>
              <a:defRPr sz="3200" b="1" kern="1200">
                <a:solidFill>
                  <a:schemeClr val="tx1"/>
                </a:solidFill>
                <a:latin typeface="+mn-lt"/>
                <a:ea typeface="+mn-ea"/>
                <a:cs typeface="+mn-cs"/>
              </a:defRPr>
            </a:lvl1pPr>
            <a:lvl2pPr marL="609585" indent="-304792" algn="l" defTabSz="609585" rtl="0" eaLnBrk="1" latinLnBrk="0" hangingPunct="1">
              <a:spcBef>
                <a:spcPct val="20000"/>
              </a:spcBef>
              <a:buClr>
                <a:srgbClr val="E46102"/>
              </a:buClr>
              <a:buFont typeface="Arial" panose="020B0604020202020204" pitchFamily="34" charset="0"/>
              <a:buChar char="•"/>
              <a:tabLst/>
              <a:defRPr sz="2667" kern="1200">
                <a:solidFill>
                  <a:schemeClr val="tx1"/>
                </a:solidFill>
                <a:latin typeface="+mn-lt"/>
                <a:ea typeface="+mn-ea"/>
                <a:cs typeface="+mn-cs"/>
              </a:defRPr>
            </a:lvl2pPr>
            <a:lvl3pPr marL="914377" indent="-304792" algn="l" defTabSz="609585" rtl="0" eaLnBrk="1" latinLnBrk="0" hangingPunct="1">
              <a:spcBef>
                <a:spcPct val="20000"/>
              </a:spcBef>
              <a:buClr>
                <a:srgbClr val="E46102"/>
              </a:buClr>
              <a:buSzPct val="100000"/>
              <a:buFont typeface="Wingdings" pitchFamily="2" charset="2"/>
              <a:buChar char="§"/>
              <a:tabLst/>
              <a:defRPr sz="2400" kern="1200">
                <a:solidFill>
                  <a:schemeClr val="tx1"/>
                </a:solidFill>
                <a:latin typeface="+mn-lt"/>
                <a:ea typeface="+mn-ea"/>
                <a:cs typeface="+mn-cs"/>
              </a:defRPr>
            </a:lvl3pPr>
            <a:lvl4pPr marL="1221287" indent="-306910" algn="l" defTabSz="609585" rtl="0" eaLnBrk="1" latinLnBrk="0" hangingPunct="1">
              <a:spcBef>
                <a:spcPct val="20000"/>
              </a:spcBef>
              <a:buClr>
                <a:srgbClr val="D95E00"/>
              </a:buClr>
              <a:buFont typeface="System Font Regular"/>
              <a:buChar char="&gt;"/>
              <a:tabLst/>
              <a:defRPr sz="2133" kern="1200">
                <a:solidFill>
                  <a:schemeClr val="tx1"/>
                </a:solidFill>
                <a:latin typeface="+mn-lt"/>
                <a:ea typeface="+mn-ea"/>
                <a:cs typeface="+mn-cs"/>
              </a:defRPr>
            </a:lvl4pPr>
            <a:lvl5pPr marL="1526079" indent="-304792" algn="l" defTabSz="609585" rtl="0" eaLnBrk="1" latinLnBrk="0" hangingPunct="1">
              <a:spcBef>
                <a:spcPct val="20000"/>
              </a:spcBef>
              <a:buClr>
                <a:srgbClr val="D95E00"/>
              </a:buClr>
              <a:buFont typeface="Wingdings" pitchFamily="2" charset="2"/>
              <a:buChar char="§"/>
              <a:tabLst/>
              <a:defRPr sz="1867" kern="1200">
                <a:solidFill>
                  <a:schemeClr val="tx1"/>
                </a:solidFill>
                <a:latin typeface="+mn-lt"/>
                <a:ea typeface="+mn-ea"/>
                <a:cs typeface="+mn-cs"/>
              </a:defRPr>
            </a:lvl5pPr>
            <a:lvl6pPr marL="1756789" indent="-230712" algn="l" defTabSz="609585" rtl="0" eaLnBrk="1" latinLnBrk="0" hangingPunct="1">
              <a:spcBef>
                <a:spcPct val="20000"/>
              </a:spcBef>
              <a:buClr>
                <a:srgbClr val="D95E00"/>
              </a:buClr>
              <a:buFont typeface="System Font Regular"/>
              <a:buChar char="&gt;"/>
              <a:tabLst/>
              <a:defRPr sz="1600" kern="1200">
                <a:solidFill>
                  <a:schemeClr val="tx1"/>
                </a:solidFill>
                <a:latin typeface="+mn-lt"/>
                <a:ea typeface="+mn-ea"/>
                <a:cs typeface="+mn-cs"/>
              </a:defRPr>
            </a:lvl6pPr>
            <a:lvl7pPr marL="1904952" indent="-148163" algn="l" defTabSz="609585" rtl="0" eaLnBrk="1" latinLnBrk="0" hangingPunct="1">
              <a:spcBef>
                <a:spcPct val="20000"/>
              </a:spcBef>
              <a:buClr>
                <a:srgbClr val="D95E00"/>
              </a:buClr>
              <a:buFont typeface="Wingdings" pitchFamily="2" charset="2"/>
              <a:buChar char="§"/>
              <a:tabLst/>
              <a:defRPr sz="1333" kern="1200">
                <a:solidFill>
                  <a:schemeClr val="tx1"/>
                </a:solidFill>
                <a:latin typeface="+mn-lt"/>
                <a:ea typeface="+mn-ea"/>
                <a:cs typeface="+mn-cs"/>
              </a:defRPr>
            </a:lvl7pPr>
            <a:lvl8pPr marL="2061582" indent="-156629" algn="l" defTabSz="609585" rtl="0" eaLnBrk="1" latinLnBrk="0" hangingPunct="1">
              <a:spcBef>
                <a:spcPct val="20000"/>
              </a:spcBef>
              <a:buClr>
                <a:srgbClr val="D95E00"/>
              </a:buClr>
              <a:buFont typeface="System Font Regular"/>
              <a:buChar char="&gt;"/>
              <a:tabLst/>
              <a:defRPr sz="12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2000" dirty="0"/>
              <a:t>Initial Hypothesis</a:t>
            </a:r>
          </a:p>
          <a:p>
            <a:pPr lvl="1"/>
            <a:r>
              <a:rPr lang="en-US" sz="1800" dirty="0"/>
              <a:t>Deep sequential models would outperform classical baselines </a:t>
            </a:r>
          </a:p>
          <a:p>
            <a:pPr lvl="1"/>
            <a:endParaRPr lang="en-US" sz="1800" dirty="0"/>
          </a:p>
          <a:p>
            <a:pPr lvl="1"/>
            <a:r>
              <a:rPr lang="en-US" sz="1800" dirty="0"/>
              <a:t>Hybrid and multitask models might further improve robustness </a:t>
            </a:r>
          </a:p>
          <a:p>
            <a:pPr lvl="1"/>
            <a:endParaRPr lang="en-US" sz="1800" dirty="0"/>
          </a:p>
          <a:p>
            <a:pPr lvl="1"/>
            <a:r>
              <a:rPr lang="en-US" sz="1800" dirty="0"/>
              <a:t>Better classification was expected to improve trading outcomes</a:t>
            </a:r>
          </a:p>
          <a:p>
            <a:endParaRPr lang="en-US" sz="2400" dirty="0"/>
          </a:p>
        </p:txBody>
      </p:sp>
      <p:sp>
        <p:nvSpPr>
          <p:cNvPr id="6" name="TextBox 5">
            <a:extLst>
              <a:ext uri="{FF2B5EF4-FFF2-40B4-BE49-F238E27FC236}">
                <a16:creationId xmlns:a16="http://schemas.microsoft.com/office/drawing/2014/main" id="{5A6422CE-3960-00B1-A3AE-691F3A7B53A3}"/>
              </a:ext>
            </a:extLst>
          </p:cNvPr>
          <p:cNvSpPr txBox="1"/>
          <p:nvPr/>
        </p:nvSpPr>
        <p:spPr>
          <a:xfrm>
            <a:off x="2669485" y="-85179"/>
            <a:ext cx="6369908" cy="707886"/>
          </a:xfrm>
          <a:prstGeom prst="rect">
            <a:avLst/>
          </a:prstGeom>
          <a:noFill/>
        </p:spPr>
        <p:txBody>
          <a:bodyPr wrap="square">
            <a:spAutoFit/>
          </a:bodyPr>
          <a:lstStyle/>
          <a:p>
            <a:r>
              <a:rPr lang="en-US" sz="4000" b="1" dirty="0"/>
              <a:t>Problem &amp; Background</a:t>
            </a:r>
          </a:p>
        </p:txBody>
      </p:sp>
    </p:spTree>
    <p:extLst>
      <p:ext uri="{BB962C8B-B14F-4D97-AF65-F5344CB8AC3E}">
        <p14:creationId xmlns:p14="http://schemas.microsoft.com/office/powerpoint/2010/main" val="3399009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8AAC26-BE00-3247-971D-79169ECBBA70}"/>
              </a:ext>
            </a:extLst>
          </p:cNvPr>
          <p:cNvSpPr>
            <a:spLocks noGrp="1"/>
          </p:cNvSpPr>
          <p:nvPr>
            <p:ph type="body" sz="quarter" idx="13"/>
          </p:nvPr>
        </p:nvSpPr>
        <p:spPr/>
        <p:txBody>
          <a:bodyPr/>
          <a:lstStyle/>
          <a:p>
            <a:endParaRPr lang="en-US" dirty="0"/>
          </a:p>
        </p:txBody>
      </p:sp>
      <p:sp>
        <p:nvSpPr>
          <p:cNvPr id="3" name="Text Placeholder 2">
            <a:extLst>
              <a:ext uri="{FF2B5EF4-FFF2-40B4-BE49-F238E27FC236}">
                <a16:creationId xmlns:a16="http://schemas.microsoft.com/office/drawing/2014/main" id="{D11701C5-F85F-DB4C-B72D-C64F1F0A7590}"/>
              </a:ext>
            </a:extLst>
          </p:cNvPr>
          <p:cNvSpPr>
            <a:spLocks noGrp="1"/>
          </p:cNvSpPr>
          <p:nvPr>
            <p:ph type="body" sz="quarter" idx="15"/>
          </p:nvPr>
        </p:nvSpPr>
        <p:spPr>
          <a:xfrm>
            <a:off x="235599" y="1392653"/>
            <a:ext cx="11589952" cy="4110682"/>
          </a:xfrm>
        </p:spPr>
        <p:txBody>
          <a:bodyPr/>
          <a:lstStyle/>
          <a:p>
            <a:r>
              <a:rPr lang="en-US" sz="1800" dirty="0"/>
              <a:t>Short-Horizon Market Predictability</a:t>
            </a:r>
            <a:r>
              <a:rPr lang="en-US" sz="1800" b="0" dirty="0"/>
              <a:t>: Cryptocurrency markets exhibit high volatility and weak short-term autocorrelation. Jaquart et al. [1] showed that predictive performance is highly sensitive to horizon selection and chronological validation. This motivated the use of strict time-based splits and careful target construction in this study.</a:t>
            </a:r>
          </a:p>
          <a:p>
            <a:endParaRPr lang="en-US" sz="1800" b="0" dirty="0"/>
          </a:p>
          <a:p>
            <a:r>
              <a:rPr lang="en-US" sz="1800" dirty="0"/>
              <a:t>Convolutional Architectures</a:t>
            </a:r>
            <a:r>
              <a:rPr lang="en-US" sz="1800" b="0" dirty="0"/>
              <a:t>: Bai et al. [2] showed that convolutional sequence models can outperform recurrent networks in some sequence tasks. CNNs capture local temporal patterns using shared filters and can model longer dependencies through dilation.</a:t>
            </a:r>
          </a:p>
          <a:p>
            <a:endParaRPr lang="en-US" sz="1800" b="0" dirty="0"/>
          </a:p>
          <a:p>
            <a:r>
              <a:rPr lang="en-US" sz="1800" dirty="0"/>
              <a:t>Recurrent Architectures</a:t>
            </a:r>
            <a:r>
              <a:rPr lang="en-US" sz="1800" b="0" dirty="0"/>
              <a:t>: LSTM [3] introduced gated memory cells to mitigate vanishing gradients, while GRU [4] simplified gating while maintaining competitive performance. Siami-Namini et al. [5] also reported strong forecasting performance for LSTM and GRU in time series settings.</a:t>
            </a:r>
          </a:p>
          <a:p>
            <a:pPr marL="0" indent="0">
              <a:buNone/>
            </a:pPr>
            <a:endParaRPr lang="en-US" sz="1800" b="0" dirty="0"/>
          </a:p>
          <a:p>
            <a:endParaRPr lang="en-US" sz="1800" b="0" dirty="0"/>
          </a:p>
          <a:p>
            <a:endParaRPr lang="en-US" sz="1800" b="0" dirty="0"/>
          </a:p>
        </p:txBody>
      </p:sp>
      <p:sp>
        <p:nvSpPr>
          <p:cNvPr id="4" name="Title 3">
            <a:extLst>
              <a:ext uri="{FF2B5EF4-FFF2-40B4-BE49-F238E27FC236}">
                <a16:creationId xmlns:a16="http://schemas.microsoft.com/office/drawing/2014/main" id="{7E896F29-9B8D-D44D-8718-0A59C15B2964}"/>
              </a:ext>
            </a:extLst>
          </p:cNvPr>
          <p:cNvSpPr>
            <a:spLocks noGrp="1"/>
          </p:cNvSpPr>
          <p:nvPr>
            <p:ph type="title"/>
          </p:nvPr>
        </p:nvSpPr>
        <p:spPr>
          <a:xfrm>
            <a:off x="272085" y="507334"/>
            <a:ext cx="10355658" cy="696384"/>
          </a:xfrm>
        </p:spPr>
        <p:txBody>
          <a:bodyPr/>
          <a:lstStyle/>
          <a:p>
            <a:pPr algn="ctr"/>
            <a:r>
              <a:rPr lang="en-US" dirty="0"/>
              <a:t>Literature Review I</a:t>
            </a:r>
          </a:p>
        </p:txBody>
      </p:sp>
      <p:sp>
        <p:nvSpPr>
          <p:cNvPr id="6" name="TextBox 5">
            <a:extLst>
              <a:ext uri="{FF2B5EF4-FFF2-40B4-BE49-F238E27FC236}">
                <a16:creationId xmlns:a16="http://schemas.microsoft.com/office/drawing/2014/main" id="{75F56151-B0D9-E2EE-8242-E802E8070A21}"/>
              </a:ext>
            </a:extLst>
          </p:cNvPr>
          <p:cNvSpPr txBox="1"/>
          <p:nvPr/>
        </p:nvSpPr>
        <p:spPr>
          <a:xfrm>
            <a:off x="272085" y="5700353"/>
            <a:ext cx="11152271" cy="1015663"/>
          </a:xfrm>
          <a:prstGeom prst="rect">
            <a:avLst/>
          </a:prstGeom>
          <a:noFill/>
        </p:spPr>
        <p:txBody>
          <a:bodyPr wrap="square">
            <a:spAutoFit/>
          </a:bodyPr>
          <a:lstStyle/>
          <a:p>
            <a:r>
              <a:rPr lang="en-US" sz="1200" dirty="0"/>
              <a:t>[1] P. Jaquart, D. Dann, and C. Weinhardt, “Short-term bitcoin market prediction via machine learning,” 2021.</a:t>
            </a:r>
          </a:p>
          <a:p>
            <a:r>
              <a:rPr lang="en-US" sz="1200" dirty="0"/>
              <a:t>[2] S. Bai et al., “An empirical evaluation of convolutional and recurrent networks for sequence modeling,” 2018.</a:t>
            </a:r>
          </a:p>
          <a:p>
            <a:r>
              <a:rPr lang="en-US" sz="1200" dirty="0"/>
              <a:t>[3] S. Hochreiter and J. </a:t>
            </a:r>
            <a:r>
              <a:rPr lang="en-US" sz="1200" dirty="0" err="1"/>
              <a:t>Schmidhuber</a:t>
            </a:r>
            <a:r>
              <a:rPr lang="en-US" sz="1200" dirty="0"/>
              <a:t>, “Long Short-Term Memory,” Neural Computation, 1997.</a:t>
            </a:r>
          </a:p>
          <a:p>
            <a:r>
              <a:rPr lang="en-US" sz="1200" dirty="0"/>
              <a:t>[4] K. Cho et al., “Learning phrase representations using RNN encoder–decoder,” EMNLP, 2014.</a:t>
            </a:r>
          </a:p>
          <a:p>
            <a:r>
              <a:rPr lang="en-US" sz="1200" dirty="0"/>
              <a:t>[5] S. Siami-Namini et al., “The performance of LSTM and GRU networks in time series forecasting,” IEEE Big Data, 2018.</a:t>
            </a:r>
          </a:p>
        </p:txBody>
      </p:sp>
      <p:sp>
        <p:nvSpPr>
          <p:cNvPr id="7" name="TextBox 6">
            <a:extLst>
              <a:ext uri="{FF2B5EF4-FFF2-40B4-BE49-F238E27FC236}">
                <a16:creationId xmlns:a16="http://schemas.microsoft.com/office/drawing/2014/main" id="{975C70F8-3CAE-B386-6270-EE30FD831EF2}"/>
              </a:ext>
            </a:extLst>
          </p:cNvPr>
          <p:cNvSpPr txBox="1"/>
          <p:nvPr/>
        </p:nvSpPr>
        <p:spPr>
          <a:xfrm>
            <a:off x="2669485" y="-85179"/>
            <a:ext cx="6369908" cy="707886"/>
          </a:xfrm>
          <a:prstGeom prst="rect">
            <a:avLst/>
          </a:prstGeom>
          <a:noFill/>
        </p:spPr>
        <p:txBody>
          <a:bodyPr wrap="square">
            <a:spAutoFit/>
          </a:bodyPr>
          <a:lstStyle/>
          <a:p>
            <a:r>
              <a:rPr lang="en-US" sz="4000" b="1" dirty="0"/>
              <a:t>Problem &amp; Background</a:t>
            </a:r>
          </a:p>
        </p:txBody>
      </p:sp>
    </p:spTree>
    <p:extLst>
      <p:ext uri="{BB962C8B-B14F-4D97-AF65-F5344CB8AC3E}">
        <p14:creationId xmlns:p14="http://schemas.microsoft.com/office/powerpoint/2010/main" val="311494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39CC3-A8F3-F44F-60F4-F7464B8147D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FB30458-D342-9A3A-54F9-19452C4D9A74}"/>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E3BF6D60-AB12-A854-0402-FC656BEC2C74}"/>
              </a:ext>
            </a:extLst>
          </p:cNvPr>
          <p:cNvSpPr>
            <a:spLocks noGrp="1"/>
          </p:cNvSpPr>
          <p:nvPr>
            <p:ph type="body" sz="quarter" idx="15"/>
          </p:nvPr>
        </p:nvSpPr>
        <p:spPr>
          <a:xfrm>
            <a:off x="235599" y="1426519"/>
            <a:ext cx="11589952" cy="4076816"/>
          </a:xfrm>
        </p:spPr>
        <p:txBody>
          <a:bodyPr/>
          <a:lstStyle/>
          <a:p>
            <a:r>
              <a:rPr lang="en-US" sz="1800" dirty="0"/>
              <a:t>Hybrid CNN–RNN Models</a:t>
            </a:r>
            <a:r>
              <a:rPr lang="en-US" sz="1800" b="0" dirty="0"/>
              <a:t>: </a:t>
            </a:r>
            <a:r>
              <a:rPr lang="en-US" sz="1800" b="0" dirty="0" err="1"/>
              <a:t>DeepLOB</a:t>
            </a:r>
            <a:r>
              <a:rPr lang="en-US" sz="1800" b="0" dirty="0"/>
              <a:t> [6] showed that convolutional layers can extract hierarchical representations which are then modeled sequentially using recurrent networks. This motivated the inclusion of CNN–GRU style hybrid architectures in this project.</a:t>
            </a:r>
          </a:p>
          <a:p>
            <a:endParaRPr lang="en-US" sz="1800" b="0" dirty="0"/>
          </a:p>
          <a:p>
            <a:r>
              <a:rPr lang="en-US" sz="1800" dirty="0"/>
              <a:t>Attention and Transformers</a:t>
            </a:r>
            <a:r>
              <a:rPr lang="en-US" sz="1800" b="0" dirty="0"/>
              <a:t>: Transformers replace recurrence with self-attention [7]. Temporal Fusion Transformer extends attention mechanisms for interpretable multi-horizon forecasting [8]. These works motivated the inclusion of transformer-based models in this study.</a:t>
            </a:r>
          </a:p>
          <a:p>
            <a:endParaRPr lang="en-US" sz="1800" b="0" dirty="0"/>
          </a:p>
          <a:p>
            <a:r>
              <a:rPr lang="en-US" sz="1800" dirty="0"/>
              <a:t>Financial Machine Learning Perspective</a:t>
            </a:r>
            <a:r>
              <a:rPr lang="en-US" sz="1800" b="0" dirty="0"/>
              <a:t>: López de Prado [9] emphasized the importance of leakage control, chronological validation, and realistic evaluation in financial machine learning. These principles motivated the use of purge gaps, chronological splits, calibration analysis, and </a:t>
            </a:r>
            <a:r>
              <a:rPr lang="en-US" sz="1800" b="0" dirty="0" err="1"/>
              <a:t>backtesting</a:t>
            </a:r>
            <a:r>
              <a:rPr lang="en-US" sz="1800" b="0" dirty="0"/>
              <a:t> in this project.</a:t>
            </a:r>
          </a:p>
          <a:p>
            <a:endParaRPr lang="en-US" sz="1800" b="0" dirty="0"/>
          </a:p>
        </p:txBody>
      </p:sp>
      <p:sp>
        <p:nvSpPr>
          <p:cNvPr id="4" name="Title 3">
            <a:extLst>
              <a:ext uri="{FF2B5EF4-FFF2-40B4-BE49-F238E27FC236}">
                <a16:creationId xmlns:a16="http://schemas.microsoft.com/office/drawing/2014/main" id="{AAB16FF3-7141-8A60-EA0E-49B1C3552DC9}"/>
              </a:ext>
            </a:extLst>
          </p:cNvPr>
          <p:cNvSpPr>
            <a:spLocks noGrp="1"/>
          </p:cNvSpPr>
          <p:nvPr>
            <p:ph type="title"/>
          </p:nvPr>
        </p:nvSpPr>
        <p:spPr>
          <a:xfrm>
            <a:off x="272085" y="658281"/>
            <a:ext cx="10355658" cy="696384"/>
          </a:xfrm>
        </p:spPr>
        <p:txBody>
          <a:bodyPr/>
          <a:lstStyle/>
          <a:p>
            <a:pPr algn="ctr"/>
            <a:r>
              <a:rPr lang="en-US" dirty="0"/>
              <a:t>Literature Review II</a:t>
            </a:r>
          </a:p>
        </p:txBody>
      </p:sp>
      <p:sp>
        <p:nvSpPr>
          <p:cNvPr id="6" name="TextBox 5">
            <a:extLst>
              <a:ext uri="{FF2B5EF4-FFF2-40B4-BE49-F238E27FC236}">
                <a16:creationId xmlns:a16="http://schemas.microsoft.com/office/drawing/2014/main" id="{D65AF9E0-D1FE-3D89-651C-BBD4BD1733AB}"/>
              </a:ext>
            </a:extLst>
          </p:cNvPr>
          <p:cNvSpPr txBox="1"/>
          <p:nvPr/>
        </p:nvSpPr>
        <p:spPr>
          <a:xfrm>
            <a:off x="272085" y="5700353"/>
            <a:ext cx="11152271" cy="830997"/>
          </a:xfrm>
          <a:prstGeom prst="rect">
            <a:avLst/>
          </a:prstGeom>
          <a:noFill/>
        </p:spPr>
        <p:txBody>
          <a:bodyPr wrap="square">
            <a:spAutoFit/>
          </a:bodyPr>
          <a:lstStyle/>
          <a:p>
            <a:r>
              <a:rPr lang="en-US" sz="1200" dirty="0"/>
              <a:t>[6] Z. Zhang et al., “</a:t>
            </a:r>
            <a:r>
              <a:rPr lang="en-US" sz="1200" dirty="0" err="1"/>
              <a:t>DeepLOB</a:t>
            </a:r>
            <a:r>
              <a:rPr lang="en-US" sz="1200" dirty="0"/>
              <a:t>: Deep convolutional neural networks for limit order books,” </a:t>
            </a:r>
            <a:r>
              <a:rPr lang="en-US" sz="1200" i="1" dirty="0"/>
              <a:t>IEEE Transactions on Signal Processing</a:t>
            </a:r>
            <a:r>
              <a:rPr lang="en-US" sz="1200" dirty="0"/>
              <a:t>, 2019.</a:t>
            </a:r>
            <a:br>
              <a:rPr lang="en-US" sz="1200" dirty="0"/>
            </a:br>
            <a:r>
              <a:rPr lang="en-US" sz="1200" dirty="0"/>
              <a:t>[7] A. Vaswani et al., “Attention is all you need,” </a:t>
            </a:r>
            <a:r>
              <a:rPr lang="en-US" sz="1200" i="1" dirty="0" err="1"/>
              <a:t>NeurIPS</a:t>
            </a:r>
            <a:r>
              <a:rPr lang="en-US" sz="1200" dirty="0"/>
              <a:t>, 2017.</a:t>
            </a:r>
            <a:br>
              <a:rPr lang="en-US" sz="1200" dirty="0"/>
            </a:br>
            <a:r>
              <a:rPr lang="en-US" sz="1200" dirty="0"/>
              <a:t>[8] B. Lim et al., “Temporal Fusion Transformers for interpretable multi-horizon forecasting,” </a:t>
            </a:r>
            <a:r>
              <a:rPr lang="en-US" sz="1200" i="1" dirty="0"/>
              <a:t>International Journal of Forecasting</a:t>
            </a:r>
            <a:r>
              <a:rPr lang="en-US" sz="1200" dirty="0"/>
              <a:t>, 2021.</a:t>
            </a:r>
            <a:br>
              <a:rPr lang="en-US" sz="1200" dirty="0"/>
            </a:br>
            <a:r>
              <a:rPr lang="en-US" sz="1200" dirty="0"/>
              <a:t>[9] M. López de Prado, </a:t>
            </a:r>
            <a:r>
              <a:rPr lang="en-US" sz="1200" i="1" dirty="0"/>
              <a:t>Advances in Financial Machine Learning</a:t>
            </a:r>
            <a:r>
              <a:rPr lang="en-US" sz="1200" dirty="0"/>
              <a:t>. Wiley, 2018..</a:t>
            </a:r>
          </a:p>
        </p:txBody>
      </p:sp>
      <p:sp>
        <p:nvSpPr>
          <p:cNvPr id="7" name="TextBox 6">
            <a:extLst>
              <a:ext uri="{FF2B5EF4-FFF2-40B4-BE49-F238E27FC236}">
                <a16:creationId xmlns:a16="http://schemas.microsoft.com/office/drawing/2014/main" id="{10E82536-E1AE-98A9-AD90-B33F1B550A59}"/>
              </a:ext>
            </a:extLst>
          </p:cNvPr>
          <p:cNvSpPr txBox="1"/>
          <p:nvPr/>
        </p:nvSpPr>
        <p:spPr>
          <a:xfrm>
            <a:off x="2669485" y="-85179"/>
            <a:ext cx="6369908" cy="707886"/>
          </a:xfrm>
          <a:prstGeom prst="rect">
            <a:avLst/>
          </a:prstGeom>
          <a:noFill/>
        </p:spPr>
        <p:txBody>
          <a:bodyPr wrap="square">
            <a:spAutoFit/>
          </a:bodyPr>
          <a:lstStyle/>
          <a:p>
            <a:r>
              <a:rPr lang="en-US" sz="4000" b="1" dirty="0"/>
              <a:t>Problem &amp; Background</a:t>
            </a:r>
          </a:p>
        </p:txBody>
      </p:sp>
    </p:spTree>
    <p:extLst>
      <p:ext uri="{BB962C8B-B14F-4D97-AF65-F5344CB8AC3E}">
        <p14:creationId xmlns:p14="http://schemas.microsoft.com/office/powerpoint/2010/main" val="3123495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116BA6-D1B6-9D40-8E34-E1F311A6CA40}"/>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6DB8BC8A-A2C8-234D-842C-D34DDE713A48}"/>
              </a:ext>
            </a:extLst>
          </p:cNvPr>
          <p:cNvSpPr>
            <a:spLocks noGrp="1"/>
          </p:cNvSpPr>
          <p:nvPr>
            <p:ph type="body" sz="quarter" idx="15"/>
          </p:nvPr>
        </p:nvSpPr>
        <p:spPr>
          <a:xfrm>
            <a:off x="497863" y="1247513"/>
            <a:ext cx="11589952" cy="3767575"/>
          </a:xfrm>
        </p:spPr>
        <p:txBody>
          <a:bodyPr/>
          <a:lstStyle/>
          <a:p>
            <a:pPr>
              <a:buNone/>
            </a:pPr>
            <a:r>
              <a:rPr lang="en-US" sz="1800" dirty="0"/>
              <a:t>Dataset</a:t>
            </a:r>
          </a:p>
          <a:p>
            <a:pPr>
              <a:buFont typeface="Arial" panose="020B0604020202020204" pitchFamily="34" charset="0"/>
              <a:buChar char="•"/>
            </a:pPr>
            <a:r>
              <a:rPr lang="en-US" sz="1800" b="0" dirty="0"/>
              <a:t>Bitcoin 1-minute market data </a:t>
            </a:r>
          </a:p>
          <a:p>
            <a:pPr>
              <a:buFont typeface="Arial" panose="020B0604020202020204" pitchFamily="34" charset="0"/>
              <a:buChar char="•"/>
            </a:pPr>
            <a:r>
              <a:rPr lang="en-US" sz="1800" b="0" dirty="0"/>
              <a:t>OHLCV variables used as the starting point </a:t>
            </a:r>
          </a:p>
          <a:p>
            <a:pPr>
              <a:buFont typeface="Arial" panose="020B0604020202020204" pitchFamily="34" charset="0"/>
              <a:buChar char="•"/>
            </a:pPr>
            <a:endParaRPr lang="en-US" sz="1800" b="0" dirty="0"/>
          </a:p>
          <a:p>
            <a:pPr>
              <a:buNone/>
            </a:pPr>
            <a:r>
              <a:rPr lang="en-US" sz="1800" dirty="0"/>
              <a:t>Target</a:t>
            </a:r>
          </a:p>
          <a:p>
            <a:pPr>
              <a:buFont typeface="Arial" panose="020B0604020202020204" pitchFamily="34" charset="0"/>
              <a:buChar char="•"/>
            </a:pPr>
            <a:r>
              <a:rPr lang="en-US" sz="1800" b="0" dirty="0"/>
              <a:t>Short-horizon binary direction classification </a:t>
            </a:r>
          </a:p>
          <a:p>
            <a:pPr>
              <a:buFont typeface="Arial" panose="020B0604020202020204" pitchFamily="34" charset="0"/>
              <a:buChar char="•"/>
            </a:pPr>
            <a:r>
              <a:rPr lang="en-US" sz="1800" b="0" dirty="0"/>
              <a:t>Future log return over a 10-minute horizon</a:t>
            </a:r>
          </a:p>
          <a:p>
            <a:pPr>
              <a:buFont typeface="Arial" panose="020B0604020202020204" pitchFamily="34" charset="0"/>
              <a:buChar char="•"/>
            </a:pPr>
            <a:r>
              <a:rPr lang="en-US" sz="1800" b="0" dirty="0"/>
              <a:t>Threshold filtering used to remove near-zero noisy movements </a:t>
            </a:r>
          </a:p>
          <a:p>
            <a:pPr>
              <a:buFont typeface="Arial" panose="020B0604020202020204" pitchFamily="34" charset="0"/>
              <a:buChar char="•"/>
            </a:pPr>
            <a:endParaRPr lang="en-US" sz="1800" b="0" dirty="0"/>
          </a:p>
          <a:p>
            <a:pPr>
              <a:buNone/>
            </a:pPr>
            <a:r>
              <a:rPr lang="en-US" sz="1800" dirty="0"/>
              <a:t>Data preparation</a:t>
            </a:r>
          </a:p>
          <a:p>
            <a:pPr>
              <a:buFont typeface="Arial" panose="020B0604020202020204" pitchFamily="34" charset="0"/>
              <a:buChar char="•"/>
            </a:pPr>
            <a:r>
              <a:rPr lang="en-US" sz="1800" b="0" dirty="0"/>
              <a:t>Strict chronological train / validation / test split </a:t>
            </a:r>
          </a:p>
          <a:p>
            <a:pPr>
              <a:buFont typeface="Arial" panose="020B0604020202020204" pitchFamily="34" charset="0"/>
              <a:buChar char="•"/>
            </a:pPr>
            <a:r>
              <a:rPr lang="en-US" sz="1800" b="0" dirty="0"/>
              <a:t>Purge gap used to reduce leakage near split boundaries </a:t>
            </a:r>
          </a:p>
          <a:p>
            <a:pPr>
              <a:buFont typeface="Arial" panose="020B0604020202020204" pitchFamily="34" charset="0"/>
              <a:buChar char="•"/>
            </a:pPr>
            <a:r>
              <a:rPr lang="en-US" sz="1800" b="0" dirty="0"/>
              <a:t>Engineered feature space built from OHLCV-derived indicators</a:t>
            </a:r>
          </a:p>
          <a:p>
            <a:pPr>
              <a:buFont typeface="Arial" panose="020B0604020202020204" pitchFamily="34" charset="0"/>
              <a:buChar char="•"/>
            </a:pPr>
            <a:r>
              <a:rPr lang="en-US" sz="1800" b="0" dirty="0"/>
              <a:t>Fixed input window length: 240 timesteps</a:t>
            </a:r>
          </a:p>
          <a:p>
            <a:pPr>
              <a:buFont typeface="Arial" panose="020B0604020202020204" pitchFamily="34" charset="0"/>
              <a:buChar char="•"/>
            </a:pPr>
            <a:r>
              <a:rPr lang="en-US" sz="1800" b="0" dirty="0"/>
              <a:t>Sequence stride: 10</a:t>
            </a:r>
          </a:p>
          <a:p>
            <a:pPr>
              <a:defRPr sz="1600">
                <a:solidFill>
                  <a:srgbClr val="000000"/>
                </a:solidFill>
              </a:defRPr>
            </a:pPr>
            <a:endParaRPr lang="en-US" sz="1800" b="0" dirty="0"/>
          </a:p>
        </p:txBody>
      </p:sp>
      <p:sp>
        <p:nvSpPr>
          <p:cNvPr id="4" name="Title 3">
            <a:extLst>
              <a:ext uri="{FF2B5EF4-FFF2-40B4-BE49-F238E27FC236}">
                <a16:creationId xmlns:a16="http://schemas.microsoft.com/office/drawing/2014/main" id="{FA2F3D7E-44E0-754D-9994-151A12340300}"/>
              </a:ext>
            </a:extLst>
          </p:cNvPr>
          <p:cNvSpPr>
            <a:spLocks noGrp="1"/>
          </p:cNvSpPr>
          <p:nvPr>
            <p:ph type="title"/>
          </p:nvPr>
        </p:nvSpPr>
        <p:spPr>
          <a:xfrm>
            <a:off x="329963" y="551129"/>
            <a:ext cx="10355658" cy="696384"/>
          </a:xfrm>
        </p:spPr>
        <p:txBody>
          <a:bodyPr/>
          <a:lstStyle/>
          <a:p>
            <a:pPr algn="ctr"/>
            <a:r>
              <a:rPr lang="en-US" dirty="0"/>
              <a:t>Dataset and Problem Setup</a:t>
            </a:r>
          </a:p>
        </p:txBody>
      </p:sp>
      <p:sp>
        <p:nvSpPr>
          <p:cNvPr id="6" name="TextBox 5">
            <a:extLst>
              <a:ext uri="{FF2B5EF4-FFF2-40B4-BE49-F238E27FC236}">
                <a16:creationId xmlns:a16="http://schemas.microsoft.com/office/drawing/2014/main" id="{F7749B5B-BE6E-3F11-16D3-B5BA1248EDB1}"/>
              </a:ext>
            </a:extLst>
          </p:cNvPr>
          <p:cNvSpPr txBox="1"/>
          <p:nvPr/>
        </p:nvSpPr>
        <p:spPr>
          <a:xfrm>
            <a:off x="2669485" y="-85179"/>
            <a:ext cx="6369908" cy="707886"/>
          </a:xfrm>
          <a:prstGeom prst="rect">
            <a:avLst/>
          </a:prstGeom>
          <a:noFill/>
        </p:spPr>
        <p:txBody>
          <a:bodyPr wrap="square">
            <a:spAutoFit/>
          </a:bodyPr>
          <a:lstStyle/>
          <a:p>
            <a:pPr algn="ctr"/>
            <a:r>
              <a:rPr lang="en-US" sz="4000" b="1" dirty="0" err="1"/>
              <a:t>Methodolgy</a:t>
            </a:r>
            <a:endParaRPr lang="en-US" sz="4000" b="1" dirty="0"/>
          </a:p>
        </p:txBody>
      </p:sp>
    </p:spTree>
    <p:extLst>
      <p:ext uri="{BB962C8B-B14F-4D97-AF65-F5344CB8AC3E}">
        <p14:creationId xmlns:p14="http://schemas.microsoft.com/office/powerpoint/2010/main" val="518613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3367AF-FC52-A946-992D-40EBDA312207}"/>
              </a:ext>
            </a:extLst>
          </p:cNvPr>
          <p:cNvSpPr>
            <a:spLocks noGrp="1"/>
          </p:cNvSpPr>
          <p:nvPr>
            <p:ph type="body" sz="quarter" idx="13"/>
          </p:nvPr>
        </p:nvSpPr>
        <p:spPr/>
        <p:txBody>
          <a:bodyPr/>
          <a:lstStyle/>
          <a:p>
            <a:endParaRPr lang="en-US"/>
          </a:p>
        </p:txBody>
      </p:sp>
      <p:sp>
        <p:nvSpPr>
          <p:cNvPr id="4" name="Title 3">
            <a:extLst>
              <a:ext uri="{FF2B5EF4-FFF2-40B4-BE49-F238E27FC236}">
                <a16:creationId xmlns:a16="http://schemas.microsoft.com/office/drawing/2014/main" id="{DBC01D0D-12AC-D644-A5FA-FDEED2ABDAEA}"/>
              </a:ext>
            </a:extLst>
          </p:cNvPr>
          <p:cNvSpPr>
            <a:spLocks noGrp="1"/>
          </p:cNvSpPr>
          <p:nvPr>
            <p:ph type="title"/>
          </p:nvPr>
        </p:nvSpPr>
        <p:spPr>
          <a:xfrm>
            <a:off x="272085" y="475852"/>
            <a:ext cx="10355658" cy="696384"/>
          </a:xfrm>
        </p:spPr>
        <p:txBody>
          <a:bodyPr/>
          <a:lstStyle/>
          <a:p>
            <a:pPr algn="ctr"/>
            <a:r>
              <a:rPr lang="en-US" dirty="0"/>
              <a:t>Model Architectures</a:t>
            </a:r>
          </a:p>
        </p:txBody>
      </p:sp>
      <p:sp>
        <p:nvSpPr>
          <p:cNvPr id="5" name="Content Placeholder 2">
            <a:extLst>
              <a:ext uri="{FF2B5EF4-FFF2-40B4-BE49-F238E27FC236}">
                <a16:creationId xmlns:a16="http://schemas.microsoft.com/office/drawing/2014/main" id="{8F749BF4-EFD0-A2CA-9D62-9DE90BC1DB65}"/>
              </a:ext>
            </a:extLst>
          </p:cNvPr>
          <p:cNvSpPr txBox="1">
            <a:spLocks/>
          </p:cNvSpPr>
          <p:nvPr/>
        </p:nvSpPr>
        <p:spPr>
          <a:xfrm>
            <a:off x="570404" y="1544770"/>
            <a:ext cx="4406350" cy="3032890"/>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a:buNone/>
            </a:pPr>
            <a:r>
              <a:rPr lang="en-US" sz="1800" b="1" dirty="0">
                <a:effectLst/>
              </a:rPr>
              <a:t>Input representations</a:t>
            </a:r>
            <a:endParaRPr lang="en-US" sz="1800" dirty="0">
              <a:effectLst/>
            </a:endParaRPr>
          </a:p>
          <a:p>
            <a:pPr>
              <a:buFont typeface="Arial" panose="020B0604020202020204" pitchFamily="34" charset="0"/>
              <a:buChar char="•"/>
            </a:pPr>
            <a:r>
              <a:rPr lang="en-US" sz="1800" b="1" dirty="0">
                <a:effectLst/>
              </a:rPr>
              <a:t>Baselines:</a:t>
            </a:r>
            <a:r>
              <a:rPr lang="en-US" sz="1800" dirty="0">
                <a:effectLst/>
              </a:rPr>
              <a:t> tabular summaries from window statistics </a:t>
            </a:r>
          </a:p>
          <a:p>
            <a:pPr>
              <a:buFont typeface="Arial" panose="020B0604020202020204" pitchFamily="34" charset="0"/>
              <a:buChar char="•"/>
            </a:pPr>
            <a:r>
              <a:rPr lang="en-US" sz="1800" b="1" dirty="0">
                <a:effectLst/>
              </a:rPr>
              <a:t>Deep models:</a:t>
            </a:r>
            <a:r>
              <a:rPr lang="en-US" sz="1800" dirty="0">
                <a:effectLst/>
              </a:rPr>
              <a:t> fixed-length sequences of engineered feature vectors</a:t>
            </a:r>
          </a:p>
        </p:txBody>
      </p:sp>
      <p:sp>
        <p:nvSpPr>
          <p:cNvPr id="11" name="Content Placeholder 2">
            <a:extLst>
              <a:ext uri="{FF2B5EF4-FFF2-40B4-BE49-F238E27FC236}">
                <a16:creationId xmlns:a16="http://schemas.microsoft.com/office/drawing/2014/main" id="{9EA593BD-2857-51AA-3EBB-B41A7B767CDC}"/>
              </a:ext>
            </a:extLst>
          </p:cNvPr>
          <p:cNvSpPr txBox="1">
            <a:spLocks/>
          </p:cNvSpPr>
          <p:nvPr/>
        </p:nvSpPr>
        <p:spPr>
          <a:xfrm>
            <a:off x="8768668" y="1544770"/>
            <a:ext cx="2895255" cy="145567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a:buNone/>
            </a:pPr>
            <a:r>
              <a:rPr lang="en-US" sz="1800" b="1" dirty="0">
                <a:effectLst/>
              </a:rPr>
              <a:t>Multitask models</a:t>
            </a:r>
            <a:endParaRPr lang="en-US" sz="1800" dirty="0">
              <a:effectLst/>
            </a:endParaRPr>
          </a:p>
          <a:p>
            <a:pPr>
              <a:buFont typeface="Arial" panose="020B0604020202020204" pitchFamily="34" charset="0"/>
              <a:buChar char="•"/>
            </a:pPr>
            <a:r>
              <a:rPr lang="en-US" sz="1800" dirty="0">
                <a:effectLst/>
              </a:rPr>
              <a:t>Added auxiliary tasks: </a:t>
            </a:r>
          </a:p>
          <a:p>
            <a:pPr marL="742950" lvl="1" indent="-285750">
              <a:buFont typeface="Arial" panose="020B0604020202020204" pitchFamily="34" charset="0"/>
              <a:buChar char="•"/>
            </a:pPr>
            <a:r>
              <a:rPr lang="en-US" dirty="0">
                <a:effectLst/>
              </a:rPr>
              <a:t>regime classification </a:t>
            </a:r>
          </a:p>
          <a:p>
            <a:pPr marL="742950" lvl="1" indent="-285750">
              <a:buFont typeface="Arial" panose="020B0604020202020204" pitchFamily="34" charset="0"/>
              <a:buChar char="•"/>
            </a:pPr>
            <a:r>
              <a:rPr lang="en-US" dirty="0">
                <a:effectLst/>
              </a:rPr>
              <a:t>future return regression</a:t>
            </a:r>
          </a:p>
          <a:p>
            <a:pPr lvl="1"/>
            <a:endParaRPr lang="en-US" dirty="0">
              <a:effectLst/>
            </a:endParaRPr>
          </a:p>
        </p:txBody>
      </p:sp>
      <p:sp>
        <p:nvSpPr>
          <p:cNvPr id="12" name="Content Placeholder 2">
            <a:extLst>
              <a:ext uri="{FF2B5EF4-FFF2-40B4-BE49-F238E27FC236}">
                <a16:creationId xmlns:a16="http://schemas.microsoft.com/office/drawing/2014/main" id="{C4372EE4-4908-A064-CBBC-6FAF91906C95}"/>
              </a:ext>
            </a:extLst>
          </p:cNvPr>
          <p:cNvSpPr txBox="1">
            <a:spLocks/>
          </p:cNvSpPr>
          <p:nvPr/>
        </p:nvSpPr>
        <p:spPr>
          <a:xfrm>
            <a:off x="5083397" y="1544770"/>
            <a:ext cx="3578628" cy="1645920"/>
          </a:xfrm>
          <a:prstGeom prst="rect">
            <a:avLst/>
          </a:prstGeom>
        </p:spPr>
        <p:txBody>
          <a:bodyPr>
            <a:noAutofit/>
          </a:bodyPr>
          <a:lst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buNone/>
            </a:pPr>
            <a:r>
              <a:rPr lang="en-US" sz="1800" b="1" dirty="0"/>
              <a:t>Single-task models</a:t>
            </a:r>
            <a:endParaRPr lang="en-US" sz="1800" dirty="0"/>
          </a:p>
          <a:p>
            <a:pPr>
              <a:buFont typeface="Arial" panose="020B0604020202020204" pitchFamily="34" charset="0"/>
              <a:buChar char="•"/>
            </a:pPr>
            <a:r>
              <a:rPr lang="en-US" sz="1800" dirty="0"/>
              <a:t>Logistic Regression </a:t>
            </a:r>
          </a:p>
          <a:p>
            <a:pPr>
              <a:buFont typeface="Arial" panose="020B0604020202020204" pitchFamily="34" charset="0"/>
              <a:buChar char="•"/>
            </a:pPr>
            <a:r>
              <a:rPr lang="en-US" sz="1800" dirty="0"/>
              <a:t>Random Forest </a:t>
            </a:r>
          </a:p>
          <a:p>
            <a:pPr>
              <a:buFont typeface="Arial" panose="020B0604020202020204" pitchFamily="34" charset="0"/>
              <a:buChar char="•"/>
            </a:pPr>
            <a:r>
              <a:rPr lang="en-US" sz="1800" dirty="0" err="1"/>
              <a:t>XGBoost</a:t>
            </a:r>
            <a:r>
              <a:rPr lang="en-US" sz="1800" dirty="0"/>
              <a:t> </a:t>
            </a:r>
          </a:p>
          <a:p>
            <a:pPr>
              <a:buFont typeface="Arial" panose="020B0604020202020204" pitchFamily="34" charset="0"/>
              <a:buChar char="•"/>
            </a:pPr>
            <a:r>
              <a:rPr lang="en-US" sz="1800" dirty="0"/>
              <a:t>MLP(summary) </a:t>
            </a:r>
          </a:p>
          <a:p>
            <a:pPr>
              <a:buFont typeface="Arial" panose="020B0604020202020204" pitchFamily="34" charset="0"/>
              <a:buChar char="•"/>
            </a:pPr>
            <a:r>
              <a:rPr lang="en-US" sz="1800" dirty="0"/>
              <a:t>MLP(sequence) </a:t>
            </a:r>
          </a:p>
          <a:p>
            <a:pPr>
              <a:buFont typeface="Arial" panose="020B0604020202020204" pitchFamily="34" charset="0"/>
              <a:buChar char="•"/>
            </a:pPr>
            <a:r>
              <a:rPr lang="en-US" sz="1800" dirty="0"/>
              <a:t>CNN1D (TCN Backbone)</a:t>
            </a:r>
          </a:p>
          <a:p>
            <a:pPr>
              <a:buFont typeface="Arial" panose="020B0604020202020204" pitchFamily="34" charset="0"/>
              <a:buChar char="•"/>
            </a:pPr>
            <a:r>
              <a:rPr lang="en-US" sz="1800" dirty="0"/>
              <a:t>GRU </a:t>
            </a:r>
          </a:p>
          <a:p>
            <a:pPr>
              <a:buFont typeface="Arial" panose="020B0604020202020204" pitchFamily="34" charset="0"/>
              <a:buChar char="•"/>
            </a:pPr>
            <a:r>
              <a:rPr lang="en-US" sz="1800" dirty="0"/>
              <a:t>LSTM </a:t>
            </a:r>
          </a:p>
          <a:p>
            <a:pPr>
              <a:buFont typeface="Arial" panose="020B0604020202020204" pitchFamily="34" charset="0"/>
              <a:buChar char="•"/>
            </a:pPr>
            <a:r>
              <a:rPr lang="en-US" sz="1800" dirty="0"/>
              <a:t>CNN-GRU </a:t>
            </a:r>
          </a:p>
          <a:p>
            <a:pPr>
              <a:buFont typeface="Arial" panose="020B0604020202020204" pitchFamily="34" charset="0"/>
              <a:buChar char="•"/>
            </a:pPr>
            <a:r>
              <a:rPr lang="en-US" sz="1800" dirty="0"/>
              <a:t>CNN-Transformer-Attn </a:t>
            </a:r>
          </a:p>
          <a:p>
            <a:pPr>
              <a:buFont typeface="Arial" panose="020B0604020202020204" pitchFamily="34" charset="0"/>
              <a:buChar char="•"/>
            </a:pPr>
            <a:r>
              <a:rPr lang="en-US" sz="1800" dirty="0" err="1"/>
              <a:t>TransformerEncoder</a:t>
            </a:r>
            <a:endParaRPr lang="en-US" sz="1800" dirty="0"/>
          </a:p>
          <a:p>
            <a:pPr lvl="1"/>
            <a:endParaRPr lang="en-US" sz="1800" dirty="0"/>
          </a:p>
        </p:txBody>
      </p:sp>
      <p:sp>
        <p:nvSpPr>
          <p:cNvPr id="3" name="TextBox 2">
            <a:extLst>
              <a:ext uri="{FF2B5EF4-FFF2-40B4-BE49-F238E27FC236}">
                <a16:creationId xmlns:a16="http://schemas.microsoft.com/office/drawing/2014/main" id="{CB87E1B2-B526-B3EC-2B9B-19C2A11DE2AB}"/>
              </a:ext>
            </a:extLst>
          </p:cNvPr>
          <p:cNvSpPr txBox="1"/>
          <p:nvPr/>
        </p:nvSpPr>
        <p:spPr>
          <a:xfrm>
            <a:off x="2669485" y="-85179"/>
            <a:ext cx="6369908" cy="707886"/>
          </a:xfrm>
          <a:prstGeom prst="rect">
            <a:avLst/>
          </a:prstGeom>
          <a:noFill/>
        </p:spPr>
        <p:txBody>
          <a:bodyPr wrap="square">
            <a:spAutoFit/>
          </a:bodyPr>
          <a:lstStyle/>
          <a:p>
            <a:pPr algn="ctr"/>
            <a:r>
              <a:rPr lang="en-US" sz="4000" b="1" dirty="0" err="1"/>
              <a:t>Methodolgy</a:t>
            </a:r>
            <a:endParaRPr lang="en-US" sz="4000" b="1" dirty="0"/>
          </a:p>
        </p:txBody>
      </p:sp>
    </p:spTree>
    <p:extLst>
      <p:ext uri="{BB962C8B-B14F-4D97-AF65-F5344CB8AC3E}">
        <p14:creationId xmlns:p14="http://schemas.microsoft.com/office/powerpoint/2010/main" val="2151618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840B1-2AAA-BA49-8A62-EA276E157D5A}"/>
              </a:ext>
            </a:extLst>
          </p:cNvPr>
          <p:cNvSpPr>
            <a:spLocks noGrp="1"/>
          </p:cNvSpPr>
          <p:nvPr>
            <p:ph type="body" sz="quarter" idx="13"/>
          </p:nvPr>
        </p:nvSpPr>
        <p:spPr/>
        <p:txBody>
          <a:bodyPr/>
          <a:lstStyle/>
          <a:p>
            <a:endParaRPr lang="en-US"/>
          </a:p>
        </p:txBody>
      </p:sp>
      <p:sp>
        <p:nvSpPr>
          <p:cNvPr id="4" name="Title 3">
            <a:extLst>
              <a:ext uri="{FF2B5EF4-FFF2-40B4-BE49-F238E27FC236}">
                <a16:creationId xmlns:a16="http://schemas.microsoft.com/office/drawing/2014/main" id="{930B127F-5582-284F-8A92-99A34ED6961F}"/>
              </a:ext>
            </a:extLst>
          </p:cNvPr>
          <p:cNvSpPr>
            <a:spLocks noGrp="1"/>
          </p:cNvSpPr>
          <p:nvPr>
            <p:ph type="title"/>
          </p:nvPr>
        </p:nvSpPr>
        <p:spPr>
          <a:xfrm>
            <a:off x="382444" y="610260"/>
            <a:ext cx="10355658" cy="696384"/>
          </a:xfrm>
        </p:spPr>
        <p:txBody>
          <a:bodyPr/>
          <a:lstStyle/>
          <a:p>
            <a:pPr algn="ctr"/>
            <a:r>
              <a:rPr lang="en-US" dirty="0"/>
              <a:t>Training and Evaluation</a:t>
            </a:r>
          </a:p>
        </p:txBody>
      </p:sp>
      <p:sp>
        <p:nvSpPr>
          <p:cNvPr id="7" name="Content Placeholder 2">
            <a:extLst>
              <a:ext uri="{FF2B5EF4-FFF2-40B4-BE49-F238E27FC236}">
                <a16:creationId xmlns:a16="http://schemas.microsoft.com/office/drawing/2014/main" id="{12D420FB-588E-832C-855A-F478ABA4CE29}"/>
              </a:ext>
            </a:extLst>
          </p:cNvPr>
          <p:cNvSpPr txBox="1">
            <a:spLocks/>
          </p:cNvSpPr>
          <p:nvPr/>
        </p:nvSpPr>
        <p:spPr>
          <a:xfrm>
            <a:off x="793914" y="1385734"/>
            <a:ext cx="4424363" cy="4046976"/>
          </a:xfrm>
          <a:prstGeom prst="rect">
            <a:avLst/>
          </a:prstGeom>
        </p:spPr>
        <p:txBody>
          <a:bodyPr>
            <a:noAutofit/>
          </a:bodyPr>
          <a:lst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609585" lvl="1" indent="0">
              <a:buNone/>
            </a:pPr>
            <a:endParaRPr lang="en-US" sz="1800" dirty="0"/>
          </a:p>
          <a:p>
            <a:pPr>
              <a:buNone/>
            </a:pPr>
            <a:r>
              <a:rPr lang="en-US" sz="1800" b="1" dirty="0"/>
              <a:t>Training</a:t>
            </a:r>
            <a:endParaRPr lang="en-US" sz="1800" dirty="0"/>
          </a:p>
          <a:p>
            <a:pPr>
              <a:buFont typeface="Arial" panose="020B0604020202020204" pitchFamily="34" charset="0"/>
              <a:buChar char="•"/>
            </a:pPr>
            <a:r>
              <a:rPr lang="en-US" sz="1800" dirty="0" err="1"/>
              <a:t>AdamW</a:t>
            </a:r>
            <a:r>
              <a:rPr lang="en-US" sz="1800" dirty="0"/>
              <a:t> optimizer </a:t>
            </a:r>
          </a:p>
          <a:p>
            <a:pPr>
              <a:buFont typeface="Arial" panose="020B0604020202020204" pitchFamily="34" charset="0"/>
              <a:buChar char="•"/>
            </a:pPr>
            <a:r>
              <a:rPr lang="en-US" sz="1800" dirty="0"/>
              <a:t>regularization through dropout and weight decay </a:t>
            </a:r>
          </a:p>
          <a:p>
            <a:pPr>
              <a:buFont typeface="Arial" panose="020B0604020202020204" pitchFamily="34" charset="0"/>
              <a:buChar char="•"/>
            </a:pPr>
            <a:r>
              <a:rPr lang="en-US" sz="1800" dirty="0"/>
              <a:t>gradient clipping </a:t>
            </a:r>
          </a:p>
          <a:p>
            <a:pPr>
              <a:buFont typeface="Arial" panose="020B0604020202020204" pitchFamily="34" charset="0"/>
              <a:buChar char="•"/>
            </a:pPr>
            <a:r>
              <a:rPr lang="en-US" sz="1800" dirty="0" err="1"/>
              <a:t>OneCycle</a:t>
            </a:r>
            <a:r>
              <a:rPr lang="en-US" sz="1800" dirty="0"/>
              <a:t> learning-rate scheduling </a:t>
            </a:r>
          </a:p>
          <a:p>
            <a:pPr>
              <a:buFont typeface="Arial" panose="020B0604020202020204" pitchFamily="34" charset="0"/>
              <a:buChar char="•"/>
            </a:pPr>
            <a:r>
              <a:rPr lang="en-US" sz="1800" dirty="0"/>
              <a:t>fixed evaluation threshold of 0.5 </a:t>
            </a:r>
          </a:p>
          <a:p>
            <a:pPr>
              <a:buFont typeface="Arial" panose="020B0604020202020204" pitchFamily="34" charset="0"/>
              <a:buChar char="•"/>
            </a:pPr>
            <a:r>
              <a:rPr lang="en-US" sz="1800" dirty="0"/>
              <a:t>Early stopping</a:t>
            </a:r>
          </a:p>
          <a:p>
            <a:endParaRPr lang="en-US" sz="1800" dirty="0"/>
          </a:p>
        </p:txBody>
      </p:sp>
      <p:sp>
        <p:nvSpPr>
          <p:cNvPr id="6" name="Content Placeholder 2">
            <a:extLst>
              <a:ext uri="{FF2B5EF4-FFF2-40B4-BE49-F238E27FC236}">
                <a16:creationId xmlns:a16="http://schemas.microsoft.com/office/drawing/2014/main" id="{C256FEC0-055B-8EDF-1B98-AFF0958CD78A}"/>
              </a:ext>
            </a:extLst>
          </p:cNvPr>
          <p:cNvSpPr txBox="1">
            <a:spLocks/>
          </p:cNvSpPr>
          <p:nvPr/>
        </p:nvSpPr>
        <p:spPr>
          <a:xfrm>
            <a:off x="6672175" y="1306644"/>
            <a:ext cx="5519825" cy="4424882"/>
          </a:xfrm>
          <a:prstGeom prst="rect">
            <a:avLst/>
          </a:prstGeom>
        </p:spPr>
        <p:txBody>
          <a:bodyPr>
            <a:noAutofit/>
          </a:bodyPr>
          <a:lst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609585" lvl="1" indent="0">
              <a:buNone/>
            </a:pPr>
            <a:endParaRPr lang="en-US" sz="1800" dirty="0"/>
          </a:p>
          <a:p>
            <a:pPr>
              <a:buNone/>
            </a:pPr>
            <a:r>
              <a:rPr lang="en-US" sz="1800" b="1" dirty="0"/>
              <a:t>Evaluation metrics</a:t>
            </a:r>
            <a:endParaRPr lang="en-US" sz="1800" dirty="0"/>
          </a:p>
          <a:p>
            <a:pPr>
              <a:buFont typeface="Arial" panose="020B0604020202020204" pitchFamily="34" charset="0"/>
              <a:buChar char="•"/>
            </a:pPr>
            <a:r>
              <a:rPr lang="en-US" sz="1800" dirty="0"/>
              <a:t>Accuracy </a:t>
            </a:r>
          </a:p>
          <a:p>
            <a:pPr>
              <a:buFont typeface="Arial" panose="020B0604020202020204" pitchFamily="34" charset="0"/>
              <a:buChar char="•"/>
            </a:pPr>
            <a:r>
              <a:rPr lang="en-US" sz="1800" dirty="0"/>
              <a:t>Balanced Accuracy </a:t>
            </a:r>
          </a:p>
          <a:p>
            <a:pPr>
              <a:buFont typeface="Arial" panose="020B0604020202020204" pitchFamily="34" charset="0"/>
              <a:buChar char="•"/>
            </a:pPr>
            <a:r>
              <a:rPr lang="en-US" sz="1800" dirty="0"/>
              <a:t>Macro F1 </a:t>
            </a:r>
          </a:p>
          <a:p>
            <a:pPr>
              <a:buFont typeface="Arial" panose="020B0604020202020204" pitchFamily="34" charset="0"/>
              <a:buChar char="•"/>
            </a:pPr>
            <a:r>
              <a:rPr lang="en-US" sz="1800" dirty="0"/>
              <a:t>Weighted F1 </a:t>
            </a:r>
          </a:p>
          <a:p>
            <a:pPr>
              <a:buFont typeface="Arial" panose="020B0604020202020204" pitchFamily="34" charset="0"/>
              <a:buChar char="•"/>
            </a:pPr>
            <a:r>
              <a:rPr lang="en-US" sz="1800" dirty="0"/>
              <a:t>Brier score </a:t>
            </a:r>
          </a:p>
          <a:p>
            <a:pPr>
              <a:buFont typeface="Arial" panose="020B0604020202020204" pitchFamily="34" charset="0"/>
              <a:buChar char="•"/>
            </a:pPr>
            <a:r>
              <a:rPr lang="en-US" sz="1800" dirty="0"/>
              <a:t>Expected calibration error </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None/>
            </a:pPr>
            <a:r>
              <a:rPr lang="en-US" sz="1800" b="1" dirty="0"/>
              <a:t>Practical evaluation</a:t>
            </a:r>
            <a:endParaRPr lang="en-US" sz="1800" dirty="0"/>
          </a:p>
          <a:p>
            <a:pPr>
              <a:buFont typeface="Arial" panose="020B0604020202020204" pitchFamily="34" charset="0"/>
              <a:buChar char="•"/>
            </a:pPr>
            <a:r>
              <a:rPr lang="en-US" sz="1800" dirty="0"/>
              <a:t>Simplified event-style </a:t>
            </a:r>
            <a:r>
              <a:rPr lang="en-US" sz="1800" dirty="0" err="1"/>
              <a:t>backtesting</a:t>
            </a:r>
            <a:r>
              <a:rPr lang="en-US" sz="1800" dirty="0"/>
              <a:t> framework</a:t>
            </a:r>
          </a:p>
          <a:p>
            <a:endParaRPr lang="en-US" sz="1800" dirty="0"/>
          </a:p>
        </p:txBody>
      </p:sp>
      <p:sp>
        <p:nvSpPr>
          <p:cNvPr id="9" name="TextBox 8">
            <a:extLst>
              <a:ext uri="{FF2B5EF4-FFF2-40B4-BE49-F238E27FC236}">
                <a16:creationId xmlns:a16="http://schemas.microsoft.com/office/drawing/2014/main" id="{9EA79AB5-1068-2EEE-8004-1807F11E966E}"/>
              </a:ext>
            </a:extLst>
          </p:cNvPr>
          <p:cNvSpPr txBox="1"/>
          <p:nvPr/>
        </p:nvSpPr>
        <p:spPr>
          <a:xfrm>
            <a:off x="2669485" y="-85179"/>
            <a:ext cx="6369908" cy="707886"/>
          </a:xfrm>
          <a:prstGeom prst="rect">
            <a:avLst/>
          </a:prstGeom>
          <a:noFill/>
        </p:spPr>
        <p:txBody>
          <a:bodyPr wrap="square">
            <a:spAutoFit/>
          </a:bodyPr>
          <a:lstStyle/>
          <a:p>
            <a:pPr algn="ctr"/>
            <a:r>
              <a:rPr lang="en-US" sz="4000" b="1" dirty="0" err="1"/>
              <a:t>Methodolgy</a:t>
            </a:r>
            <a:endParaRPr lang="en-US" sz="4000" b="1" dirty="0"/>
          </a:p>
        </p:txBody>
      </p:sp>
    </p:spTree>
    <p:extLst>
      <p:ext uri="{BB962C8B-B14F-4D97-AF65-F5344CB8AC3E}">
        <p14:creationId xmlns:p14="http://schemas.microsoft.com/office/powerpoint/2010/main" val="898745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7D144B-E1B5-A44D-BACF-B5A4B07E21BD}"/>
              </a:ext>
            </a:extLst>
          </p:cNvPr>
          <p:cNvSpPr>
            <a:spLocks noGrp="1"/>
          </p:cNvSpPr>
          <p:nvPr>
            <p:ph type="body" sz="quarter" idx="13"/>
          </p:nvPr>
        </p:nvSpPr>
        <p:spPr/>
        <p:txBody>
          <a:bodyPr/>
          <a:lstStyle/>
          <a:p>
            <a:endParaRPr lang="en-US" dirty="0"/>
          </a:p>
        </p:txBody>
      </p:sp>
      <p:sp>
        <p:nvSpPr>
          <p:cNvPr id="4" name="Title 3">
            <a:extLst>
              <a:ext uri="{FF2B5EF4-FFF2-40B4-BE49-F238E27FC236}">
                <a16:creationId xmlns:a16="http://schemas.microsoft.com/office/drawing/2014/main" id="{E5F34445-A251-A845-A467-63299B9C1C5A}"/>
              </a:ext>
            </a:extLst>
          </p:cNvPr>
          <p:cNvSpPr>
            <a:spLocks noGrp="1"/>
          </p:cNvSpPr>
          <p:nvPr>
            <p:ph type="title"/>
          </p:nvPr>
        </p:nvSpPr>
        <p:spPr>
          <a:xfrm>
            <a:off x="219533" y="611753"/>
            <a:ext cx="10355658" cy="696384"/>
          </a:xfrm>
        </p:spPr>
        <p:txBody>
          <a:bodyPr/>
          <a:lstStyle/>
          <a:p>
            <a:pPr algn="ctr"/>
            <a:r>
              <a:rPr lang="en-US" dirty="0"/>
              <a:t>Overall Classification Results</a:t>
            </a:r>
          </a:p>
        </p:txBody>
      </p:sp>
      <p:sp>
        <p:nvSpPr>
          <p:cNvPr id="10" name="TextBox 9">
            <a:extLst>
              <a:ext uri="{FF2B5EF4-FFF2-40B4-BE49-F238E27FC236}">
                <a16:creationId xmlns:a16="http://schemas.microsoft.com/office/drawing/2014/main" id="{872F32E5-58D6-BD1F-70AE-BAC21E14F8C1}"/>
              </a:ext>
            </a:extLst>
          </p:cNvPr>
          <p:cNvSpPr txBox="1"/>
          <p:nvPr/>
        </p:nvSpPr>
        <p:spPr>
          <a:xfrm>
            <a:off x="309844" y="1289527"/>
            <a:ext cx="5209968" cy="307777"/>
          </a:xfrm>
          <a:prstGeom prst="rect">
            <a:avLst/>
          </a:prstGeom>
          <a:noFill/>
        </p:spPr>
        <p:txBody>
          <a:bodyPr wrap="square">
            <a:spAutoFit/>
          </a:bodyPr>
          <a:lstStyle/>
          <a:p>
            <a:r>
              <a:rPr lang="en-US" sz="1400" b="1" dirty="0">
                <a:latin typeface="+mj-lt"/>
              </a:rPr>
              <a:t>Table 1: Combined single-task leaderboard on the test set</a:t>
            </a:r>
          </a:p>
        </p:txBody>
      </p:sp>
      <p:sp>
        <p:nvSpPr>
          <p:cNvPr id="14" name="TextBox 13">
            <a:extLst>
              <a:ext uri="{FF2B5EF4-FFF2-40B4-BE49-F238E27FC236}">
                <a16:creationId xmlns:a16="http://schemas.microsoft.com/office/drawing/2014/main" id="{53004B30-B858-3B19-D6F1-6E564AFF8749}"/>
              </a:ext>
            </a:extLst>
          </p:cNvPr>
          <p:cNvSpPr txBox="1"/>
          <p:nvPr/>
        </p:nvSpPr>
        <p:spPr>
          <a:xfrm>
            <a:off x="309844" y="4813394"/>
            <a:ext cx="10741978" cy="1231106"/>
          </a:xfrm>
          <a:prstGeom prst="rect">
            <a:avLst/>
          </a:prstGeom>
          <a:noFill/>
        </p:spPr>
        <p:txBody>
          <a:bodyPr wrap="square">
            <a:spAutoFit/>
          </a:bodyPr>
          <a:lstStyle/>
          <a:p>
            <a:pPr>
              <a:buNone/>
            </a:pPr>
            <a:r>
              <a:rPr lang="en-US" sz="2000" b="1" dirty="0">
                <a:latin typeface="+mj-lt"/>
              </a:rPr>
              <a:t>Main finding</a:t>
            </a:r>
            <a:endParaRPr lang="en-US" sz="2000" dirty="0">
              <a:latin typeface="+mj-lt"/>
            </a:endParaRPr>
          </a:p>
          <a:p>
            <a:pPr marL="285750" indent="-285750">
              <a:buFont typeface="Arial" panose="020B0604020202020204" pitchFamily="34" charset="0"/>
              <a:buChar char="•"/>
            </a:pPr>
            <a:r>
              <a:rPr lang="en-US" sz="1800" dirty="0"/>
              <a:t>Deep models did not produce a dramatic improvement over strong classical baselines</a:t>
            </a:r>
          </a:p>
          <a:p>
            <a:endParaRPr lang="en-US" sz="1800" dirty="0"/>
          </a:p>
          <a:p>
            <a:pPr marL="285750" indent="-285750">
              <a:buFont typeface="Arial" panose="020B0604020202020204" pitchFamily="34" charset="0"/>
              <a:buChar char="•"/>
            </a:pPr>
            <a:r>
              <a:rPr lang="en-US" sz="1800" dirty="0"/>
              <a:t>Multitask learning was competitive, but not better than the best single-task model</a:t>
            </a:r>
          </a:p>
        </p:txBody>
      </p:sp>
      <p:sp>
        <p:nvSpPr>
          <p:cNvPr id="17" name="TextBox 16">
            <a:extLst>
              <a:ext uri="{FF2B5EF4-FFF2-40B4-BE49-F238E27FC236}">
                <a16:creationId xmlns:a16="http://schemas.microsoft.com/office/drawing/2014/main" id="{239EBE28-4EFD-4E0C-48EF-A023A448610D}"/>
              </a:ext>
            </a:extLst>
          </p:cNvPr>
          <p:cNvSpPr txBox="1"/>
          <p:nvPr/>
        </p:nvSpPr>
        <p:spPr>
          <a:xfrm>
            <a:off x="6672190" y="1288153"/>
            <a:ext cx="4704645" cy="523220"/>
          </a:xfrm>
          <a:prstGeom prst="rect">
            <a:avLst/>
          </a:prstGeom>
          <a:noFill/>
        </p:spPr>
        <p:txBody>
          <a:bodyPr wrap="square">
            <a:spAutoFit/>
          </a:bodyPr>
          <a:lstStyle/>
          <a:p>
            <a:r>
              <a:rPr lang="en-US" sz="1400" b="1" dirty="0">
                <a:latin typeface="+mj-lt"/>
              </a:rPr>
              <a:t>Table 2: Comparison between single-task and multitask models on the test set</a:t>
            </a:r>
          </a:p>
        </p:txBody>
      </p:sp>
      <p:pic>
        <p:nvPicPr>
          <p:cNvPr id="22" name="Picture 21">
            <a:extLst>
              <a:ext uri="{FF2B5EF4-FFF2-40B4-BE49-F238E27FC236}">
                <a16:creationId xmlns:a16="http://schemas.microsoft.com/office/drawing/2014/main" id="{DFD92279-CF1D-9154-8726-7EAAACE47E1A}"/>
              </a:ext>
            </a:extLst>
          </p:cNvPr>
          <p:cNvPicPr>
            <a:picLocks noChangeAspect="1"/>
          </p:cNvPicPr>
          <p:nvPr/>
        </p:nvPicPr>
        <p:blipFill>
          <a:blip r:embed="rId3"/>
          <a:srcRect l="3611" t="13873" r="2541" b="12253"/>
          <a:stretch>
            <a:fillRect/>
          </a:stretch>
        </p:blipFill>
        <p:spPr>
          <a:xfrm>
            <a:off x="162773" y="1720035"/>
            <a:ext cx="5846728" cy="2588830"/>
          </a:xfrm>
          <a:prstGeom prst="rect">
            <a:avLst/>
          </a:prstGeom>
        </p:spPr>
      </p:pic>
      <p:pic>
        <p:nvPicPr>
          <p:cNvPr id="24" name="Picture 23">
            <a:extLst>
              <a:ext uri="{FF2B5EF4-FFF2-40B4-BE49-F238E27FC236}">
                <a16:creationId xmlns:a16="http://schemas.microsoft.com/office/drawing/2014/main" id="{84A0E5E7-C309-D377-9D27-6E50158EC91C}"/>
              </a:ext>
            </a:extLst>
          </p:cNvPr>
          <p:cNvPicPr>
            <a:picLocks noChangeAspect="1"/>
          </p:cNvPicPr>
          <p:nvPr/>
        </p:nvPicPr>
        <p:blipFill>
          <a:blip r:embed="rId4"/>
          <a:srcRect l="2045" t="11587" r="2045" b="7095"/>
          <a:stretch>
            <a:fillRect/>
          </a:stretch>
        </p:blipFill>
        <p:spPr>
          <a:xfrm>
            <a:off x="6041708" y="1754007"/>
            <a:ext cx="6026725" cy="2554858"/>
          </a:xfrm>
          <a:prstGeom prst="rect">
            <a:avLst/>
          </a:prstGeom>
        </p:spPr>
      </p:pic>
      <p:sp>
        <p:nvSpPr>
          <p:cNvPr id="25" name="TextBox 24">
            <a:extLst>
              <a:ext uri="{FF2B5EF4-FFF2-40B4-BE49-F238E27FC236}">
                <a16:creationId xmlns:a16="http://schemas.microsoft.com/office/drawing/2014/main" id="{8B8F0624-EDDA-5A2B-EF72-D601147A73BD}"/>
              </a:ext>
            </a:extLst>
          </p:cNvPr>
          <p:cNvSpPr txBox="1"/>
          <p:nvPr/>
        </p:nvSpPr>
        <p:spPr>
          <a:xfrm>
            <a:off x="2212408" y="-85179"/>
            <a:ext cx="6369908" cy="707886"/>
          </a:xfrm>
          <a:prstGeom prst="rect">
            <a:avLst/>
          </a:prstGeom>
          <a:noFill/>
        </p:spPr>
        <p:txBody>
          <a:bodyPr wrap="square">
            <a:spAutoFit/>
          </a:bodyPr>
          <a:lstStyle/>
          <a:p>
            <a:pPr algn="ctr"/>
            <a:r>
              <a:rPr lang="en-US" sz="4000" b="1" dirty="0"/>
              <a:t>Results</a:t>
            </a:r>
          </a:p>
        </p:txBody>
      </p:sp>
    </p:spTree>
    <p:extLst>
      <p:ext uri="{BB962C8B-B14F-4D97-AF65-F5344CB8AC3E}">
        <p14:creationId xmlns:p14="http://schemas.microsoft.com/office/powerpoint/2010/main" val="678964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FD48B1-A5BF-5646-8F13-7B56CDC48F91}"/>
              </a:ext>
            </a:extLst>
          </p:cNvPr>
          <p:cNvSpPr>
            <a:spLocks noGrp="1"/>
          </p:cNvSpPr>
          <p:nvPr>
            <p:ph type="body" sz="quarter" idx="13"/>
          </p:nvPr>
        </p:nvSpPr>
        <p:spPr/>
        <p:txBody>
          <a:bodyPr/>
          <a:lstStyle/>
          <a:p>
            <a:endParaRPr lang="en-US"/>
          </a:p>
        </p:txBody>
      </p:sp>
      <p:sp>
        <p:nvSpPr>
          <p:cNvPr id="4" name="Title 3">
            <a:extLst>
              <a:ext uri="{FF2B5EF4-FFF2-40B4-BE49-F238E27FC236}">
                <a16:creationId xmlns:a16="http://schemas.microsoft.com/office/drawing/2014/main" id="{F1401591-861E-C547-8326-6F13336382E9}"/>
              </a:ext>
            </a:extLst>
          </p:cNvPr>
          <p:cNvSpPr>
            <a:spLocks noGrp="1"/>
          </p:cNvSpPr>
          <p:nvPr>
            <p:ph type="title"/>
          </p:nvPr>
        </p:nvSpPr>
        <p:spPr>
          <a:xfrm>
            <a:off x="283374" y="543893"/>
            <a:ext cx="10355658" cy="696384"/>
          </a:xfrm>
        </p:spPr>
        <p:txBody>
          <a:bodyPr/>
          <a:lstStyle/>
          <a:p>
            <a:pPr algn="ctr"/>
            <a:r>
              <a:rPr lang="en-US" dirty="0"/>
              <a:t>Calibration and Confidence</a:t>
            </a:r>
          </a:p>
        </p:txBody>
      </p:sp>
      <p:sp>
        <p:nvSpPr>
          <p:cNvPr id="6" name="Text Placeholder 5">
            <a:extLst>
              <a:ext uri="{FF2B5EF4-FFF2-40B4-BE49-F238E27FC236}">
                <a16:creationId xmlns:a16="http://schemas.microsoft.com/office/drawing/2014/main" id="{D95B9015-CD2E-4580-E27A-8307CB4F5BE3}"/>
              </a:ext>
            </a:extLst>
          </p:cNvPr>
          <p:cNvSpPr>
            <a:spLocks noGrp="1"/>
          </p:cNvSpPr>
          <p:nvPr>
            <p:ph type="body" sz="quarter" idx="15"/>
          </p:nvPr>
        </p:nvSpPr>
        <p:spPr>
          <a:xfrm>
            <a:off x="283374" y="1178676"/>
            <a:ext cx="3080715" cy="3354166"/>
          </a:xfrm>
        </p:spPr>
        <p:txBody>
          <a:bodyPr/>
          <a:lstStyle/>
          <a:p>
            <a:pPr>
              <a:buNone/>
            </a:pPr>
            <a:r>
              <a:rPr lang="en-US" sz="1800" dirty="0"/>
              <a:t>Observed behavior</a:t>
            </a:r>
          </a:p>
          <a:p>
            <a:pPr>
              <a:buFont typeface="Arial" panose="020B0604020202020204" pitchFamily="34" charset="0"/>
              <a:buChar char="•"/>
            </a:pPr>
            <a:r>
              <a:rPr lang="en-US" sz="1800" b="0" dirty="0"/>
              <a:t>Predicted probabilities were mostly concentrated near 0.5 </a:t>
            </a:r>
          </a:p>
          <a:p>
            <a:pPr>
              <a:buFont typeface="Arial" panose="020B0604020202020204" pitchFamily="34" charset="0"/>
              <a:buChar char="•"/>
            </a:pPr>
            <a:r>
              <a:rPr lang="en-US" sz="1800" b="0" dirty="0"/>
              <a:t>Confidence filtering improved performance only slightly </a:t>
            </a:r>
          </a:p>
          <a:p>
            <a:pPr>
              <a:buFont typeface="Arial" panose="020B0604020202020204" pitchFamily="34" charset="0"/>
              <a:buChar char="•"/>
            </a:pPr>
            <a:r>
              <a:rPr lang="en-US" sz="1800" b="0" dirty="0"/>
              <a:t>Models showed limited ability to identify strongly separable high-confidence cases </a:t>
            </a:r>
          </a:p>
          <a:p>
            <a:pPr>
              <a:buNone/>
            </a:pPr>
            <a:r>
              <a:rPr lang="en-US" sz="1800" dirty="0"/>
              <a:t>Interpretation</a:t>
            </a:r>
          </a:p>
          <a:p>
            <a:pPr>
              <a:buFont typeface="Arial" panose="020B0604020202020204" pitchFamily="34" charset="0"/>
              <a:buChar char="•"/>
            </a:pPr>
            <a:r>
              <a:rPr lang="en-US" sz="1800" b="0" dirty="0"/>
              <a:t>Models were not severely </a:t>
            </a:r>
            <a:r>
              <a:rPr lang="en-US" sz="1800" b="0" dirty="0" err="1"/>
              <a:t>miscalibrated</a:t>
            </a:r>
            <a:r>
              <a:rPr lang="en-US" sz="1800" b="0" dirty="0"/>
              <a:t> </a:t>
            </a:r>
          </a:p>
          <a:p>
            <a:pPr>
              <a:buFont typeface="Arial" panose="020B0604020202020204" pitchFamily="34" charset="0"/>
              <a:buChar char="•"/>
            </a:pPr>
            <a:r>
              <a:rPr lang="en-US" sz="1800" b="0" dirty="0"/>
              <a:t>Main problem was weak predictive signal, not unstable probabilities</a:t>
            </a:r>
          </a:p>
          <a:p>
            <a:endParaRPr lang="en-US" sz="1800" b="0" dirty="0"/>
          </a:p>
        </p:txBody>
      </p:sp>
      <p:pic>
        <p:nvPicPr>
          <p:cNvPr id="8" name="Picture 7">
            <a:extLst>
              <a:ext uri="{FF2B5EF4-FFF2-40B4-BE49-F238E27FC236}">
                <a16:creationId xmlns:a16="http://schemas.microsoft.com/office/drawing/2014/main" id="{520D8C75-FA84-FF59-1B7C-7EB2F5747E01}"/>
              </a:ext>
            </a:extLst>
          </p:cNvPr>
          <p:cNvPicPr>
            <a:picLocks noChangeAspect="1"/>
          </p:cNvPicPr>
          <p:nvPr/>
        </p:nvPicPr>
        <p:blipFill>
          <a:blip r:embed="rId3"/>
          <a:stretch>
            <a:fillRect/>
          </a:stretch>
        </p:blipFill>
        <p:spPr>
          <a:xfrm>
            <a:off x="7912361" y="1717658"/>
            <a:ext cx="3749062" cy="2591707"/>
          </a:xfrm>
          <a:prstGeom prst="rect">
            <a:avLst/>
          </a:prstGeom>
        </p:spPr>
      </p:pic>
      <p:pic>
        <p:nvPicPr>
          <p:cNvPr id="10" name="Picture 9">
            <a:extLst>
              <a:ext uri="{FF2B5EF4-FFF2-40B4-BE49-F238E27FC236}">
                <a16:creationId xmlns:a16="http://schemas.microsoft.com/office/drawing/2014/main" id="{95615CC2-1EF5-C33F-BD5D-19B765196FD9}"/>
              </a:ext>
            </a:extLst>
          </p:cNvPr>
          <p:cNvPicPr>
            <a:picLocks noChangeAspect="1"/>
          </p:cNvPicPr>
          <p:nvPr/>
        </p:nvPicPr>
        <p:blipFill>
          <a:blip r:embed="rId4"/>
          <a:stretch>
            <a:fillRect/>
          </a:stretch>
        </p:blipFill>
        <p:spPr>
          <a:xfrm>
            <a:off x="3451548" y="1721053"/>
            <a:ext cx="4339485" cy="2616983"/>
          </a:xfrm>
          <a:prstGeom prst="rect">
            <a:avLst/>
          </a:prstGeom>
        </p:spPr>
      </p:pic>
      <p:sp>
        <p:nvSpPr>
          <p:cNvPr id="12" name="TextBox 11">
            <a:extLst>
              <a:ext uri="{FF2B5EF4-FFF2-40B4-BE49-F238E27FC236}">
                <a16:creationId xmlns:a16="http://schemas.microsoft.com/office/drawing/2014/main" id="{D39BCA96-C73E-4EA8-C91C-6A3408B871E7}"/>
              </a:ext>
            </a:extLst>
          </p:cNvPr>
          <p:cNvSpPr txBox="1"/>
          <p:nvPr/>
        </p:nvSpPr>
        <p:spPr>
          <a:xfrm>
            <a:off x="4064000" y="4509826"/>
            <a:ext cx="3364089" cy="276999"/>
          </a:xfrm>
          <a:prstGeom prst="rect">
            <a:avLst/>
          </a:prstGeom>
          <a:noFill/>
        </p:spPr>
        <p:txBody>
          <a:bodyPr wrap="square">
            <a:spAutoFit/>
          </a:bodyPr>
          <a:lstStyle/>
          <a:p>
            <a:r>
              <a:rPr lang="en-US" sz="1200" dirty="0"/>
              <a:t>Figure 1: GRU probability histogram</a:t>
            </a:r>
          </a:p>
        </p:txBody>
      </p:sp>
      <p:sp>
        <p:nvSpPr>
          <p:cNvPr id="13" name="TextBox 12">
            <a:extLst>
              <a:ext uri="{FF2B5EF4-FFF2-40B4-BE49-F238E27FC236}">
                <a16:creationId xmlns:a16="http://schemas.microsoft.com/office/drawing/2014/main" id="{128A294B-E79A-54ED-5EA8-3D5CD04C3A4C}"/>
              </a:ext>
            </a:extLst>
          </p:cNvPr>
          <p:cNvSpPr txBox="1"/>
          <p:nvPr/>
        </p:nvSpPr>
        <p:spPr>
          <a:xfrm>
            <a:off x="8827911" y="4506723"/>
            <a:ext cx="3364089" cy="276999"/>
          </a:xfrm>
          <a:prstGeom prst="rect">
            <a:avLst/>
          </a:prstGeom>
          <a:noFill/>
        </p:spPr>
        <p:txBody>
          <a:bodyPr wrap="square">
            <a:spAutoFit/>
          </a:bodyPr>
          <a:lstStyle/>
          <a:p>
            <a:r>
              <a:rPr lang="en-US" sz="1200" dirty="0"/>
              <a:t>Figure 2: GRU confidence curve</a:t>
            </a:r>
          </a:p>
        </p:txBody>
      </p:sp>
      <p:sp>
        <p:nvSpPr>
          <p:cNvPr id="14" name="TextBox 13">
            <a:extLst>
              <a:ext uri="{FF2B5EF4-FFF2-40B4-BE49-F238E27FC236}">
                <a16:creationId xmlns:a16="http://schemas.microsoft.com/office/drawing/2014/main" id="{5CB3B184-1F9B-2071-255B-147F3A29AA65}"/>
              </a:ext>
            </a:extLst>
          </p:cNvPr>
          <p:cNvSpPr txBox="1"/>
          <p:nvPr/>
        </p:nvSpPr>
        <p:spPr>
          <a:xfrm>
            <a:off x="2212408" y="-85179"/>
            <a:ext cx="6369908" cy="707886"/>
          </a:xfrm>
          <a:prstGeom prst="rect">
            <a:avLst/>
          </a:prstGeom>
          <a:noFill/>
        </p:spPr>
        <p:txBody>
          <a:bodyPr wrap="square">
            <a:spAutoFit/>
          </a:bodyPr>
          <a:lstStyle/>
          <a:p>
            <a:pPr algn="ctr"/>
            <a:r>
              <a:rPr lang="en-US" sz="4000" b="1" dirty="0"/>
              <a:t>Results</a:t>
            </a:r>
          </a:p>
        </p:txBody>
      </p:sp>
    </p:spTree>
    <p:extLst>
      <p:ext uri="{BB962C8B-B14F-4D97-AF65-F5344CB8AC3E}">
        <p14:creationId xmlns:p14="http://schemas.microsoft.com/office/powerpoint/2010/main" val="1716362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6EE0D-227B-D1CB-3CAA-2A970063CB0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DE1F3D-F8C7-DE9B-CDB2-90291936E7F7}"/>
              </a:ext>
            </a:extLst>
          </p:cNvPr>
          <p:cNvSpPr>
            <a:spLocks noGrp="1"/>
          </p:cNvSpPr>
          <p:nvPr>
            <p:ph type="body" sz="quarter" idx="13"/>
          </p:nvPr>
        </p:nvSpPr>
        <p:spPr/>
        <p:txBody>
          <a:bodyPr/>
          <a:lstStyle/>
          <a:p>
            <a:endParaRPr lang="en-US"/>
          </a:p>
        </p:txBody>
      </p:sp>
      <p:sp>
        <p:nvSpPr>
          <p:cNvPr id="4" name="Title 3">
            <a:extLst>
              <a:ext uri="{FF2B5EF4-FFF2-40B4-BE49-F238E27FC236}">
                <a16:creationId xmlns:a16="http://schemas.microsoft.com/office/drawing/2014/main" id="{DB07876B-9F74-39A4-1426-4D727B2C9CFE}"/>
              </a:ext>
            </a:extLst>
          </p:cNvPr>
          <p:cNvSpPr>
            <a:spLocks noGrp="1"/>
          </p:cNvSpPr>
          <p:nvPr>
            <p:ph type="title"/>
          </p:nvPr>
        </p:nvSpPr>
        <p:spPr>
          <a:xfrm>
            <a:off x="272085" y="482292"/>
            <a:ext cx="10355658" cy="696384"/>
          </a:xfrm>
        </p:spPr>
        <p:txBody>
          <a:bodyPr/>
          <a:lstStyle/>
          <a:p>
            <a:pPr algn="ctr"/>
            <a:r>
              <a:rPr lang="en-US" dirty="0" err="1"/>
              <a:t>Backtesting</a:t>
            </a:r>
            <a:r>
              <a:rPr lang="en-US" dirty="0"/>
              <a:t> Results</a:t>
            </a:r>
          </a:p>
        </p:txBody>
      </p:sp>
      <p:sp>
        <p:nvSpPr>
          <p:cNvPr id="6" name="Text Placeholder 5">
            <a:extLst>
              <a:ext uri="{FF2B5EF4-FFF2-40B4-BE49-F238E27FC236}">
                <a16:creationId xmlns:a16="http://schemas.microsoft.com/office/drawing/2014/main" id="{A2D3D8D0-027D-3EDB-8682-9C9FC082DB8E}"/>
              </a:ext>
            </a:extLst>
          </p:cNvPr>
          <p:cNvSpPr>
            <a:spLocks noGrp="1"/>
          </p:cNvSpPr>
          <p:nvPr>
            <p:ph type="body" sz="quarter" idx="15"/>
          </p:nvPr>
        </p:nvSpPr>
        <p:spPr>
          <a:xfrm>
            <a:off x="358864" y="5018985"/>
            <a:ext cx="10128514" cy="1570520"/>
          </a:xfrm>
        </p:spPr>
        <p:txBody>
          <a:bodyPr/>
          <a:lstStyle/>
          <a:p>
            <a:pPr>
              <a:buNone/>
            </a:pPr>
            <a:r>
              <a:rPr lang="en-US" sz="2000" dirty="0"/>
              <a:t>Key insight</a:t>
            </a:r>
          </a:p>
          <a:p>
            <a:pPr>
              <a:buFont typeface="Arial" panose="020B0604020202020204" pitchFamily="34" charset="0"/>
              <a:buChar char="•"/>
            </a:pPr>
            <a:r>
              <a:rPr lang="en-US" sz="1800" b="0" dirty="0"/>
              <a:t>Best classification model was not the best trading model</a:t>
            </a:r>
          </a:p>
          <a:p>
            <a:pPr>
              <a:buFont typeface="Arial" panose="020B0604020202020204" pitchFamily="34" charset="0"/>
              <a:buChar char="•"/>
            </a:pPr>
            <a:r>
              <a:rPr lang="en-US" sz="1800" b="0" dirty="0" err="1"/>
              <a:t>Backtesting</a:t>
            </a:r>
            <a:r>
              <a:rPr lang="en-US" sz="1800" b="0" dirty="0"/>
              <a:t> equity is normalized</a:t>
            </a:r>
          </a:p>
          <a:p>
            <a:pPr>
              <a:buFont typeface="Arial" panose="020B0604020202020204" pitchFamily="34" charset="0"/>
              <a:buChar char="•"/>
            </a:pPr>
            <a:r>
              <a:rPr lang="en-US" sz="1800" b="0" dirty="0"/>
              <a:t>Final equity above 5 means more than 5x starting capital in the simplified framework.</a:t>
            </a:r>
          </a:p>
          <a:p>
            <a:pPr>
              <a:buFont typeface="Arial" panose="020B0604020202020204" pitchFamily="34" charset="0"/>
              <a:buChar char="•"/>
            </a:pPr>
            <a:r>
              <a:rPr lang="en-US" sz="1800" b="0" dirty="0"/>
              <a:t>Growth was strong, but not smooth</a:t>
            </a:r>
          </a:p>
          <a:p>
            <a:pPr>
              <a:buFont typeface="Arial" panose="020B0604020202020204" pitchFamily="34" charset="0"/>
              <a:buChar char="•"/>
            </a:pPr>
            <a:endParaRPr lang="en-US" sz="1400" b="0" dirty="0"/>
          </a:p>
          <a:p>
            <a:endParaRPr lang="en-US" sz="1400" b="0" dirty="0"/>
          </a:p>
        </p:txBody>
      </p:sp>
      <p:sp>
        <p:nvSpPr>
          <p:cNvPr id="12" name="TextBox 11">
            <a:extLst>
              <a:ext uri="{FF2B5EF4-FFF2-40B4-BE49-F238E27FC236}">
                <a16:creationId xmlns:a16="http://schemas.microsoft.com/office/drawing/2014/main" id="{17B58F73-4D3D-08A3-62D3-C7A1B582E528}"/>
              </a:ext>
            </a:extLst>
          </p:cNvPr>
          <p:cNvSpPr txBox="1"/>
          <p:nvPr/>
        </p:nvSpPr>
        <p:spPr>
          <a:xfrm>
            <a:off x="358864" y="1152479"/>
            <a:ext cx="5232105" cy="461665"/>
          </a:xfrm>
          <a:prstGeom prst="rect">
            <a:avLst/>
          </a:prstGeom>
          <a:noFill/>
        </p:spPr>
        <p:txBody>
          <a:bodyPr wrap="square">
            <a:spAutoFit/>
          </a:bodyPr>
          <a:lstStyle/>
          <a:p>
            <a:r>
              <a:rPr lang="en-US" sz="1200" dirty="0"/>
              <a:t>Table 3: Combined </a:t>
            </a:r>
            <a:r>
              <a:rPr lang="en-US" sz="1200" dirty="0" err="1"/>
              <a:t>backtesting</a:t>
            </a:r>
            <a:r>
              <a:rPr lang="en-US" sz="1200" dirty="0"/>
              <a:t> results across baseline, single-</a:t>
            </a:r>
            <a:r>
              <a:rPr lang="en-US" sz="1200" dirty="0" err="1"/>
              <a:t>task,and</a:t>
            </a:r>
            <a:r>
              <a:rPr lang="en-US" sz="1200" dirty="0"/>
              <a:t> multitask models.</a:t>
            </a:r>
          </a:p>
        </p:txBody>
      </p:sp>
      <p:sp>
        <p:nvSpPr>
          <p:cNvPr id="13" name="TextBox 12">
            <a:extLst>
              <a:ext uri="{FF2B5EF4-FFF2-40B4-BE49-F238E27FC236}">
                <a16:creationId xmlns:a16="http://schemas.microsoft.com/office/drawing/2014/main" id="{5CA4EFDC-BBF6-B9DC-907D-4FCCB557C91B}"/>
              </a:ext>
            </a:extLst>
          </p:cNvPr>
          <p:cNvSpPr txBox="1"/>
          <p:nvPr/>
        </p:nvSpPr>
        <p:spPr>
          <a:xfrm>
            <a:off x="7816458" y="4518425"/>
            <a:ext cx="3364089" cy="276999"/>
          </a:xfrm>
          <a:prstGeom prst="rect">
            <a:avLst/>
          </a:prstGeom>
          <a:noFill/>
        </p:spPr>
        <p:txBody>
          <a:bodyPr wrap="square">
            <a:spAutoFit/>
          </a:bodyPr>
          <a:lstStyle/>
          <a:p>
            <a:r>
              <a:rPr lang="en-US" sz="1200" dirty="0"/>
              <a:t>Figure 3: LSTM equity curve</a:t>
            </a:r>
          </a:p>
        </p:txBody>
      </p:sp>
      <p:pic>
        <p:nvPicPr>
          <p:cNvPr id="9" name="Picture 8">
            <a:extLst>
              <a:ext uri="{FF2B5EF4-FFF2-40B4-BE49-F238E27FC236}">
                <a16:creationId xmlns:a16="http://schemas.microsoft.com/office/drawing/2014/main" id="{FD697086-1F91-8192-B564-F25B032EFB2E}"/>
              </a:ext>
            </a:extLst>
          </p:cNvPr>
          <p:cNvPicPr>
            <a:picLocks noChangeAspect="1"/>
          </p:cNvPicPr>
          <p:nvPr/>
        </p:nvPicPr>
        <p:blipFill>
          <a:blip r:embed="rId3"/>
          <a:stretch>
            <a:fillRect/>
          </a:stretch>
        </p:blipFill>
        <p:spPr>
          <a:xfrm>
            <a:off x="5931524" y="1721500"/>
            <a:ext cx="6102431" cy="2573364"/>
          </a:xfrm>
          <a:prstGeom prst="rect">
            <a:avLst/>
          </a:prstGeom>
        </p:spPr>
      </p:pic>
      <p:pic>
        <p:nvPicPr>
          <p:cNvPr id="15" name="Picture 14">
            <a:extLst>
              <a:ext uri="{FF2B5EF4-FFF2-40B4-BE49-F238E27FC236}">
                <a16:creationId xmlns:a16="http://schemas.microsoft.com/office/drawing/2014/main" id="{C78298C2-DBDB-A0BF-5C69-AEA6CCDF2140}"/>
              </a:ext>
            </a:extLst>
          </p:cNvPr>
          <p:cNvPicPr>
            <a:picLocks noChangeAspect="1"/>
          </p:cNvPicPr>
          <p:nvPr/>
        </p:nvPicPr>
        <p:blipFill>
          <a:blip r:embed="rId4"/>
          <a:srcRect l="1748" t="10450" r="1386"/>
          <a:stretch>
            <a:fillRect/>
          </a:stretch>
        </p:blipFill>
        <p:spPr>
          <a:xfrm>
            <a:off x="272085" y="1614144"/>
            <a:ext cx="5659439" cy="3167501"/>
          </a:xfrm>
          <a:prstGeom prst="rect">
            <a:avLst/>
          </a:prstGeom>
        </p:spPr>
      </p:pic>
      <p:sp>
        <p:nvSpPr>
          <p:cNvPr id="16" name="TextBox 15">
            <a:extLst>
              <a:ext uri="{FF2B5EF4-FFF2-40B4-BE49-F238E27FC236}">
                <a16:creationId xmlns:a16="http://schemas.microsoft.com/office/drawing/2014/main" id="{C7DD6731-40AD-5EC5-C9F0-9FF711B2DBF1}"/>
              </a:ext>
            </a:extLst>
          </p:cNvPr>
          <p:cNvSpPr txBox="1"/>
          <p:nvPr/>
        </p:nvSpPr>
        <p:spPr>
          <a:xfrm>
            <a:off x="2212408" y="-85179"/>
            <a:ext cx="6369908" cy="707886"/>
          </a:xfrm>
          <a:prstGeom prst="rect">
            <a:avLst/>
          </a:prstGeom>
          <a:noFill/>
        </p:spPr>
        <p:txBody>
          <a:bodyPr wrap="square">
            <a:spAutoFit/>
          </a:bodyPr>
          <a:lstStyle/>
          <a:p>
            <a:pPr algn="ctr"/>
            <a:r>
              <a:rPr lang="en-US" sz="4000" b="1" dirty="0"/>
              <a:t>Results</a:t>
            </a:r>
          </a:p>
        </p:txBody>
      </p:sp>
    </p:spTree>
    <p:extLst>
      <p:ext uri="{BB962C8B-B14F-4D97-AF65-F5344CB8AC3E}">
        <p14:creationId xmlns:p14="http://schemas.microsoft.com/office/powerpoint/2010/main" val="3581789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A62EF-598C-3891-62B9-7ED354BCB9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93D0E4-C42E-5254-5062-115301323968}"/>
              </a:ext>
            </a:extLst>
          </p:cNvPr>
          <p:cNvSpPr>
            <a:spLocks noGrp="1"/>
          </p:cNvSpPr>
          <p:nvPr>
            <p:ph type="body" sz="quarter" idx="13"/>
          </p:nvPr>
        </p:nvSpPr>
        <p:spPr/>
        <p:txBody>
          <a:bodyPr/>
          <a:lstStyle/>
          <a:p>
            <a:endParaRPr lang="en-US"/>
          </a:p>
        </p:txBody>
      </p:sp>
      <p:sp>
        <p:nvSpPr>
          <p:cNvPr id="4" name="Title 3">
            <a:extLst>
              <a:ext uri="{FF2B5EF4-FFF2-40B4-BE49-F238E27FC236}">
                <a16:creationId xmlns:a16="http://schemas.microsoft.com/office/drawing/2014/main" id="{8E850C54-EB91-3C75-C4D2-A42C79F269AA}"/>
              </a:ext>
            </a:extLst>
          </p:cNvPr>
          <p:cNvSpPr>
            <a:spLocks noGrp="1"/>
          </p:cNvSpPr>
          <p:nvPr>
            <p:ph type="title"/>
          </p:nvPr>
        </p:nvSpPr>
        <p:spPr>
          <a:xfrm>
            <a:off x="272085" y="482292"/>
            <a:ext cx="10355658" cy="696384"/>
          </a:xfrm>
        </p:spPr>
        <p:txBody>
          <a:bodyPr/>
          <a:lstStyle/>
          <a:p>
            <a:pPr algn="ctr"/>
            <a:r>
              <a:rPr lang="en-US" dirty="0"/>
              <a:t>Future Work</a:t>
            </a:r>
          </a:p>
        </p:txBody>
      </p:sp>
      <p:sp>
        <p:nvSpPr>
          <p:cNvPr id="6" name="Text Placeholder 5">
            <a:extLst>
              <a:ext uri="{FF2B5EF4-FFF2-40B4-BE49-F238E27FC236}">
                <a16:creationId xmlns:a16="http://schemas.microsoft.com/office/drawing/2014/main" id="{DFFBA6FF-E99D-4F07-6AF4-318AFD84BEE3}"/>
              </a:ext>
            </a:extLst>
          </p:cNvPr>
          <p:cNvSpPr>
            <a:spLocks noGrp="1"/>
          </p:cNvSpPr>
          <p:nvPr>
            <p:ph type="body" sz="quarter" idx="15"/>
          </p:nvPr>
        </p:nvSpPr>
        <p:spPr>
          <a:xfrm>
            <a:off x="499229" y="1665511"/>
            <a:ext cx="10128514" cy="1570520"/>
          </a:xfrm>
        </p:spPr>
        <p:txBody>
          <a:bodyPr/>
          <a:lstStyle/>
          <a:p>
            <a:r>
              <a:rPr lang="en-US" sz="1800" b="0" dirty="0"/>
              <a:t>More targeted tuning of recurrent models</a:t>
            </a:r>
          </a:p>
          <a:p>
            <a:r>
              <a:rPr lang="en-US" sz="1800" b="0" dirty="0"/>
              <a:t>Improve target design and confidence-aware decision rules</a:t>
            </a:r>
          </a:p>
          <a:p>
            <a:r>
              <a:rPr lang="en-US" sz="1800" b="0" dirty="0"/>
              <a:t>Use more realistic </a:t>
            </a:r>
            <a:r>
              <a:rPr lang="en-US" sz="1800" b="0" dirty="0" err="1"/>
              <a:t>backtesting</a:t>
            </a:r>
            <a:r>
              <a:rPr lang="en-US" sz="1800" b="0" dirty="0"/>
              <a:t> with costs and slippage</a:t>
            </a:r>
          </a:p>
          <a:p>
            <a:r>
              <a:rPr lang="en-US" sz="1800" b="0" dirty="0"/>
              <a:t>Test richer inputs such as order book imbalance and trade flow</a:t>
            </a:r>
          </a:p>
          <a:p>
            <a:r>
              <a:rPr lang="en-US" sz="1800" b="0" dirty="0"/>
              <a:t>Explore whether market microstructure data gives deep models a clearer advantage</a:t>
            </a:r>
          </a:p>
        </p:txBody>
      </p:sp>
    </p:spTree>
    <p:extLst>
      <p:ext uri="{BB962C8B-B14F-4D97-AF65-F5344CB8AC3E}">
        <p14:creationId xmlns:p14="http://schemas.microsoft.com/office/powerpoint/2010/main" val="3884254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256B5C-3004-7844-8C60-CDDCB74C8A17}"/>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F9ECFE7B-4438-0E44-B955-4EBF73F3672B}"/>
              </a:ext>
            </a:extLst>
          </p:cNvPr>
          <p:cNvSpPr>
            <a:spLocks noGrp="1"/>
          </p:cNvSpPr>
          <p:nvPr>
            <p:ph type="body" sz="quarter" idx="15"/>
          </p:nvPr>
        </p:nvSpPr>
        <p:spPr>
          <a:xfrm>
            <a:off x="301024" y="1151916"/>
            <a:ext cx="11589952" cy="4359885"/>
          </a:xfrm>
        </p:spPr>
        <p:txBody>
          <a:bodyPr/>
          <a:lstStyle/>
          <a:p>
            <a:pPr marL="0" indent="0">
              <a:buNone/>
            </a:pPr>
            <a:r>
              <a:rPr lang="en-US" sz="1600" b="0" dirty="0"/>
              <a:t>[1] P. Jaquart, D. Dann, and C. Weinhardt, “Short-term bitcoin market prediction via machine learning,” 2021.</a:t>
            </a:r>
            <a:br>
              <a:rPr lang="en-US" sz="1600" b="0" dirty="0"/>
            </a:br>
            <a:r>
              <a:rPr lang="en-US" sz="1600" b="0" dirty="0"/>
              <a:t>[2] S. Bai et al., “An empirical evaluation of convolutional and recurrent networks for sequence modeling,” 2018.</a:t>
            </a:r>
            <a:br>
              <a:rPr lang="en-US" sz="1600" b="0" dirty="0"/>
            </a:br>
            <a:r>
              <a:rPr lang="en-US" sz="1600" b="0" dirty="0"/>
              <a:t>[3] S. Hochreiter and J. </a:t>
            </a:r>
            <a:r>
              <a:rPr lang="en-US" sz="1600" b="0" dirty="0" err="1"/>
              <a:t>Schmidhuber</a:t>
            </a:r>
            <a:r>
              <a:rPr lang="en-US" sz="1600" b="0" dirty="0"/>
              <a:t>, “Long Short-Term Memory,” </a:t>
            </a:r>
            <a:r>
              <a:rPr lang="en-US" sz="1600" b="0" i="1" dirty="0"/>
              <a:t>Neural Computation</a:t>
            </a:r>
            <a:r>
              <a:rPr lang="en-US" sz="1600" b="0" dirty="0"/>
              <a:t>, 1997.</a:t>
            </a:r>
            <a:br>
              <a:rPr lang="en-US" sz="1600" b="0" dirty="0"/>
            </a:br>
            <a:r>
              <a:rPr lang="en-US" sz="1600" b="0" dirty="0"/>
              <a:t>[4] K. Cho et al., “Learning phrase representations using RNN encoder–decoder,” </a:t>
            </a:r>
            <a:r>
              <a:rPr lang="en-US" sz="1600" b="0" i="1" dirty="0"/>
              <a:t>EMNLP</a:t>
            </a:r>
            <a:r>
              <a:rPr lang="en-US" sz="1600" b="0" dirty="0"/>
              <a:t>, 2014.</a:t>
            </a:r>
            <a:br>
              <a:rPr lang="en-US" sz="1600" b="0" dirty="0"/>
            </a:br>
            <a:r>
              <a:rPr lang="en-US" sz="1600" b="0" dirty="0"/>
              <a:t>[5] S. Siami-Namini et al., “The performance of LSTM and GRU networks in time series forecasting,” </a:t>
            </a:r>
            <a:r>
              <a:rPr lang="en-US" sz="1600" b="0" i="1" dirty="0"/>
              <a:t>IEEE Big Data</a:t>
            </a:r>
            <a:r>
              <a:rPr lang="en-US" sz="1600" b="0" dirty="0"/>
              <a:t>, 2018.</a:t>
            </a:r>
            <a:br>
              <a:rPr lang="en-US" sz="1600" b="0" dirty="0"/>
            </a:br>
            <a:r>
              <a:rPr lang="en-US" sz="1600" b="0" dirty="0"/>
              <a:t>[6] Z. Zhang et al., “</a:t>
            </a:r>
            <a:r>
              <a:rPr lang="en-US" sz="1600" b="0" dirty="0" err="1"/>
              <a:t>DeepLOB</a:t>
            </a:r>
            <a:r>
              <a:rPr lang="en-US" sz="1600" b="0" dirty="0"/>
              <a:t>: Deep convolutional neural networks for limit order books,” </a:t>
            </a:r>
            <a:r>
              <a:rPr lang="en-US" sz="1600" b="0" i="1" dirty="0"/>
              <a:t>IEEE Transactions on Signal Processing</a:t>
            </a:r>
            <a:r>
              <a:rPr lang="en-US" sz="1600" b="0" dirty="0"/>
              <a:t>, 2019.</a:t>
            </a:r>
            <a:br>
              <a:rPr lang="en-US" sz="1600" b="0" dirty="0"/>
            </a:br>
            <a:r>
              <a:rPr lang="en-US" sz="1600" b="0" dirty="0"/>
              <a:t>[7] A. Vaswani et al., “Attention is all you need,” </a:t>
            </a:r>
            <a:r>
              <a:rPr lang="en-US" sz="1600" b="0" i="1" dirty="0" err="1"/>
              <a:t>NeurIPS</a:t>
            </a:r>
            <a:r>
              <a:rPr lang="en-US" sz="1600" b="0" dirty="0"/>
              <a:t>, 2017.</a:t>
            </a:r>
            <a:br>
              <a:rPr lang="en-US" sz="1600" b="0" dirty="0"/>
            </a:br>
            <a:r>
              <a:rPr lang="en-US" sz="1600" b="0" dirty="0"/>
              <a:t>[8] B. Lim et al., “Temporal Fusion Transformers for interpretable multi-horizon forecasting,” </a:t>
            </a:r>
            <a:r>
              <a:rPr lang="en-US" sz="1600" b="0" i="1" dirty="0"/>
              <a:t>International Journal of Forecasting</a:t>
            </a:r>
            <a:r>
              <a:rPr lang="en-US" sz="1600" b="0" dirty="0"/>
              <a:t>, 2021.</a:t>
            </a:r>
            <a:br>
              <a:rPr lang="en-US" sz="1600" b="0" dirty="0"/>
            </a:br>
            <a:r>
              <a:rPr lang="en-US" sz="1600" b="0" dirty="0"/>
              <a:t>[9] M. López de Prado, </a:t>
            </a:r>
            <a:r>
              <a:rPr lang="en-US" sz="1600" b="0" i="1" dirty="0"/>
              <a:t>Advances in Financial Machine Learning</a:t>
            </a:r>
            <a:r>
              <a:rPr lang="en-US" sz="1600" b="0" dirty="0"/>
              <a:t>. Wiley, 2018.</a:t>
            </a:r>
          </a:p>
        </p:txBody>
      </p:sp>
      <p:sp>
        <p:nvSpPr>
          <p:cNvPr id="4" name="Title 3">
            <a:extLst>
              <a:ext uri="{FF2B5EF4-FFF2-40B4-BE49-F238E27FC236}">
                <a16:creationId xmlns:a16="http://schemas.microsoft.com/office/drawing/2014/main" id="{91BDF91E-F95D-504A-8E3D-9399999793E7}"/>
              </a:ext>
            </a:extLst>
          </p:cNvPr>
          <p:cNvSpPr>
            <a:spLocks noGrp="1"/>
          </p:cNvSpPr>
          <p:nvPr>
            <p:ph type="title"/>
          </p:nvPr>
        </p:nvSpPr>
        <p:spPr>
          <a:xfrm>
            <a:off x="439725" y="518535"/>
            <a:ext cx="10355658" cy="696384"/>
          </a:xfrm>
        </p:spPr>
        <p:txBody>
          <a:bodyPr/>
          <a:lstStyle/>
          <a:p>
            <a:pPr algn="ctr"/>
            <a:r>
              <a:rPr lang="en-US" dirty="0"/>
              <a:t>References</a:t>
            </a:r>
          </a:p>
        </p:txBody>
      </p:sp>
    </p:spTree>
    <p:extLst>
      <p:ext uri="{BB962C8B-B14F-4D97-AF65-F5344CB8AC3E}">
        <p14:creationId xmlns:p14="http://schemas.microsoft.com/office/powerpoint/2010/main" val="4252540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D6E5F19-ECEE-F247-AC76-41D632A5DD50}"/>
              </a:ext>
            </a:extLst>
          </p:cNvPr>
          <p:cNvSpPr>
            <a:spLocks noGrp="1"/>
          </p:cNvSpPr>
          <p:nvPr>
            <p:ph type="body" sz="quarter" idx="14"/>
          </p:nvPr>
        </p:nvSpPr>
        <p:spPr/>
        <p:txBody>
          <a:bodyPr/>
          <a:lstStyle/>
          <a:p>
            <a:endParaRPr lang="en-US"/>
          </a:p>
        </p:txBody>
      </p:sp>
      <p:sp>
        <p:nvSpPr>
          <p:cNvPr id="6" name="Title 5">
            <a:extLst>
              <a:ext uri="{FF2B5EF4-FFF2-40B4-BE49-F238E27FC236}">
                <a16:creationId xmlns:a16="http://schemas.microsoft.com/office/drawing/2014/main" id="{1B9DAA05-4101-7F4E-9105-7A7E2CA1260E}"/>
              </a:ext>
            </a:extLst>
          </p:cNvPr>
          <p:cNvSpPr>
            <a:spLocks noGrp="1"/>
          </p:cNvSpPr>
          <p:nvPr>
            <p:ph type="title"/>
          </p:nvPr>
        </p:nvSpPr>
        <p:spPr>
          <a:xfrm>
            <a:off x="222001" y="1738041"/>
            <a:ext cx="11589952" cy="1253062"/>
          </a:xfrm>
        </p:spPr>
        <p:txBody>
          <a:bodyPr/>
          <a:lstStyle/>
          <a:p>
            <a:pPr algn="ctr"/>
            <a:r>
              <a:rPr lang="en-US" dirty="0"/>
              <a:t> Thank you</a:t>
            </a:r>
            <a:br>
              <a:rPr lang="en-US" dirty="0"/>
            </a:br>
            <a:endParaRPr lang="en-US" dirty="0"/>
          </a:p>
        </p:txBody>
      </p:sp>
      <p:sp>
        <p:nvSpPr>
          <p:cNvPr id="2" name="Title 5">
            <a:extLst>
              <a:ext uri="{FF2B5EF4-FFF2-40B4-BE49-F238E27FC236}">
                <a16:creationId xmlns:a16="http://schemas.microsoft.com/office/drawing/2014/main" id="{8FCFFE48-C3B5-9969-6578-074EBEA13A4A}"/>
              </a:ext>
            </a:extLst>
          </p:cNvPr>
          <p:cNvSpPr txBox="1">
            <a:spLocks/>
          </p:cNvSpPr>
          <p:nvPr/>
        </p:nvSpPr>
        <p:spPr>
          <a:xfrm>
            <a:off x="222001" y="2991103"/>
            <a:ext cx="11589952" cy="1253062"/>
          </a:xfrm>
          <a:prstGeom prst="rect">
            <a:avLst/>
          </a:prstGeom>
        </p:spPr>
        <p:txBody>
          <a:bodyPr/>
          <a:lstStyle>
            <a:lvl1pPr algn="l" defTabSz="609585" rtl="0" eaLnBrk="1" latinLnBrk="0" hangingPunct="1">
              <a:spcBef>
                <a:spcPct val="0"/>
              </a:spcBef>
              <a:buNone/>
              <a:defRPr sz="7200" b="1" i="0" kern="1200" baseline="0">
                <a:solidFill>
                  <a:schemeClr val="bg1"/>
                </a:solidFill>
                <a:latin typeface="+mj-lt"/>
                <a:ea typeface="+mj-ea"/>
                <a:cs typeface="+mj-cs"/>
              </a:defRPr>
            </a:lvl1pPr>
          </a:lstStyle>
          <a:p>
            <a:pPr algn="ctr"/>
            <a:r>
              <a:rPr lang="en-US" dirty="0"/>
              <a:t> Questions?</a:t>
            </a:r>
            <a:br>
              <a:rPr lang="en-US" dirty="0"/>
            </a:br>
            <a:endParaRPr lang="en-US" dirty="0"/>
          </a:p>
        </p:txBody>
      </p:sp>
    </p:spTree>
    <p:extLst>
      <p:ext uri="{BB962C8B-B14F-4D97-AF65-F5344CB8AC3E}">
        <p14:creationId xmlns:p14="http://schemas.microsoft.com/office/powerpoint/2010/main" val="3265388699"/>
      </p:ext>
    </p:extLst>
  </p:cSld>
  <p:clrMapOvr>
    <a:masterClrMapping/>
  </p:clrMapOvr>
</p:sld>
</file>

<file path=ppt/theme/theme1.xml><?xml version="1.0" encoding="utf-8"?>
<a:theme xmlns:a="http://schemas.openxmlformats.org/drawingml/2006/main" name="RIT">
  <a:themeElements>
    <a:clrScheme name="RIT">
      <a:dk1>
        <a:srgbClr val="000000"/>
      </a:dk1>
      <a:lt1>
        <a:srgbClr val="FFFFFF"/>
      </a:lt1>
      <a:dk2>
        <a:srgbClr val="6F706F"/>
      </a:dk2>
      <a:lt2>
        <a:srgbClr val="E7E6E6"/>
      </a:lt2>
      <a:accent1>
        <a:srgbClr val="F66900"/>
      </a:accent1>
      <a:accent2>
        <a:srgbClr val="F6BD00"/>
      </a:accent2>
      <a:accent3>
        <a:srgbClr val="C4D500"/>
      </a:accent3>
      <a:accent4>
        <a:srgbClr val="009CBD"/>
      </a:accent4>
      <a:accent5>
        <a:srgbClr val="7D54C7"/>
      </a:accent5>
      <a:accent6>
        <a:srgbClr val="70AD47"/>
      </a:accent6>
      <a:hlink>
        <a:srgbClr val="D64900"/>
      </a:hlink>
      <a:folHlink>
        <a:srgbClr val="71747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5a" id="{E3418252-4895-964F-961C-8180D08E9AFD}" vid="{6C85667F-3AE7-334E-BF87-DE93D94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RIT</Template>
  <TotalTime>11823</TotalTime>
  <Words>1889</Words>
  <Application>Microsoft Office PowerPoint</Application>
  <PresentationFormat>Widescreen</PresentationFormat>
  <Paragraphs>186</Paragraphs>
  <Slides>15</Slides>
  <Notes>15</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MS Gothic</vt:lpstr>
      <vt:lpstr>Arial</vt:lpstr>
      <vt:lpstr>Calibri</vt:lpstr>
      <vt:lpstr>Georgia</vt:lpstr>
      <vt:lpstr>System Font Regular</vt:lpstr>
      <vt:lpstr>Wingdings</vt:lpstr>
      <vt:lpstr>RIT</vt:lpstr>
      <vt:lpstr>Deep Sequential Architectures for Financial Time Series Classification  </vt:lpstr>
      <vt:lpstr>Outline</vt:lpstr>
      <vt:lpstr>Problem and Motivation</vt:lpstr>
      <vt:lpstr>Research Question and Hypothesis</vt:lpstr>
      <vt:lpstr>Literature Review I</vt:lpstr>
      <vt:lpstr>Literature Review II</vt:lpstr>
      <vt:lpstr>Dataset and Problem Setup</vt:lpstr>
      <vt:lpstr>Model Architectures</vt:lpstr>
      <vt:lpstr>Training and Evaluation</vt:lpstr>
      <vt:lpstr>Overall Classification Results</vt:lpstr>
      <vt:lpstr>Calibration and Confidence</vt:lpstr>
      <vt:lpstr>Backtesting Results</vt:lpstr>
      <vt:lpstr>Future Work</vt:lpstr>
      <vt:lpstr>References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REVIEW PRESENTATION  </dc:title>
  <dc:creator>Microsoft Office User</dc:creator>
  <cp:lastModifiedBy>Gloria Mbaka (RIT Student)</cp:lastModifiedBy>
  <cp:revision>65</cp:revision>
  <cp:lastPrinted>2018-04-25T02:50:23Z</cp:lastPrinted>
  <dcterms:created xsi:type="dcterms:W3CDTF">2023-12-05T17:09:58Z</dcterms:created>
  <dcterms:modified xsi:type="dcterms:W3CDTF">2026-04-16T17:26:19Z</dcterms:modified>
</cp:coreProperties>
</file>
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64" r:id="rId4"/>
    <p:sldId id="282" r:id="rId5"/>
    <p:sldId id="269" r:id="rId6"/>
    <p:sldId id="270" r:id="rId7"/>
    <p:sldId id="272" r:id="rId8"/>
    <p:sldId id="273" r:id="rId9"/>
    <p:sldId id="274" r:id="rId10"/>
    <p:sldId id="275" r:id="rId11"/>
    <p:sldId id="280" r:id="rId12"/>
    <p:sldId id="281" r:id="rId13"/>
    <p:sldId id="263" r:id="rId14"/>
  </p:sldIdLst>
  <p:sldSz cx="12192000" cy="6858000"/>
  <p:notesSz cx="6858000" cy="9144000"/>
  <p:defaultTextStyle>
    <a:defPPr>
      <a:defRPr lang="en-US"/>
    </a:defPPr>
    <a:lvl1pPr marL="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C0E3563-C2AF-044A-8D9B-13463D2643B3}">
          <p14:sldIdLst>
            <p14:sldId id="256"/>
            <p14:sldId id="257"/>
            <p14:sldId id="264"/>
            <p14:sldId id="282"/>
            <p14:sldId id="269"/>
            <p14:sldId id="270"/>
            <p14:sldId id="272"/>
            <p14:sldId id="273"/>
            <p14:sldId id="274"/>
            <p14:sldId id="275"/>
            <p14:sldId id="280"/>
            <p14:sldId id="281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E46102"/>
    <a:srgbClr val="EEEEEE"/>
    <a:srgbClr val="D95E00"/>
    <a:srgbClr val="E56618"/>
    <a:srgbClr val="EF6F2A"/>
    <a:srgbClr val="6869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41" autoAdjust="0"/>
    <p:restoredTop sz="95298"/>
  </p:normalViewPr>
  <p:slideViewPr>
    <p:cSldViewPr snapToGrid="0" snapToObjects="1">
      <p:cViewPr varScale="1">
        <p:scale>
          <a:sx n="49" d="100"/>
          <a:sy n="49" d="100"/>
        </p:scale>
        <p:origin x="38" y="57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05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06" d="100"/>
          <a:sy n="106" d="100"/>
        </p:scale>
        <p:origin x="4368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9333BD0-7962-B04A-8E72-AD5168F631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6B94C6-1659-0D42-8942-DAD6793A09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9C6931-D0F6-AB40-9D7F-95567148A5C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E64BEA-E2E4-BF48-8CF7-45787CAA5A0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39BBDE-4EF8-F14C-8AE0-73BF9B0C336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F64436-003E-284C-9347-5BCE37456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3386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6C18F2-6801-5147-A332-A6E1C7D69D18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CF60EF-C37D-4D44-90AD-6140AB570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248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CF60EF-C37D-4D44-90AD-6140AB570E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414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CF60EF-C37D-4D44-90AD-6140AB570E4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354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CF60EF-C37D-4D44-90AD-6140AB570E4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646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CF60EF-C37D-4D44-90AD-6140AB570E4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62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CF60EF-C37D-4D44-90AD-6140AB570E4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2405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CF60EF-C37D-4D44-90AD-6140AB570E4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6368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CF60EF-C37D-4D44-90AD-6140AB570E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5621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CF60EF-C37D-4D44-90AD-6140AB570E4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3362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CF60EF-C37D-4D44-90AD-6140AB570E4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7990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CF60EF-C37D-4D44-90AD-6140AB570E4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0717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CF60EF-C37D-4D44-90AD-6140AB570E4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2885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CF60EF-C37D-4D44-90AD-6140AB570E4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62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E1A813A5-67F0-4243-99EA-ADDCF39402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875" b="2875"/>
          <a:stretch/>
        </p:blipFill>
        <p:spPr>
          <a:xfrm>
            <a:off x="6152018" y="-67236"/>
            <a:ext cx="4932281" cy="6973083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05B91357-5C4C-6749-B294-84C6AE7509D5}"/>
              </a:ext>
            </a:extLst>
          </p:cNvPr>
          <p:cNvSpPr/>
          <p:nvPr userDrawn="1"/>
        </p:nvSpPr>
        <p:spPr>
          <a:xfrm>
            <a:off x="11057641" y="-94129"/>
            <a:ext cx="1268052" cy="6973083"/>
          </a:xfrm>
          <a:prstGeom prst="rect">
            <a:avLst/>
          </a:prstGeom>
          <a:solidFill>
            <a:srgbClr val="FC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EFD9D4D-26CF-1B40-9449-C3AAAE20A4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9384" y="4415481"/>
            <a:ext cx="5421167" cy="307777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E225A074-EFE6-D641-B858-30CD0522553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5532754"/>
            <a:ext cx="12192000" cy="1346199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lnSpc>
                <a:spcPct val="90000"/>
              </a:lnSpc>
              <a:buNone/>
              <a:defRPr b="0" i="1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lang="en-US" dirty="0"/>
              <a:t>Please do not put content in this space.   It is reserved for live captioning.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0388744-69EF-D44B-97D2-6D2F60890F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9384" y="4927101"/>
            <a:ext cx="5421167" cy="338554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>
            <a:lvl1pPr marL="0" indent="0">
              <a:buNone/>
              <a:defRPr sz="2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Date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075D6DC-3071-304F-BE8D-FC99BB1B67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48959" y="145901"/>
            <a:ext cx="601912" cy="2299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79311F-0114-9D4A-A4B7-60166D4031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4981" y="889478"/>
            <a:ext cx="5421167" cy="2607059"/>
          </a:xfrm>
          <a:prstGeom prst="rect">
            <a:avLst/>
          </a:prstGeom>
        </p:spPr>
        <p:txBody>
          <a:bodyPr/>
          <a:lstStyle>
            <a:lvl1pPr algn="l">
              <a:defRPr sz="6000" b="1" i="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443357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227BE32-0205-E84F-BDBB-EF646717877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36704" y="1741012"/>
            <a:ext cx="7525333" cy="6229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/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076F031-AF81-DC40-9A1C-C60C936724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8701" y="2560825"/>
            <a:ext cx="7533337" cy="2949193"/>
          </a:xfrm>
          <a:prstGeom prst="rect">
            <a:avLst/>
          </a:prstGeom>
        </p:spPr>
        <p:txBody>
          <a:bodyPr/>
          <a:lstStyle>
            <a:lvl1pPr marL="304792" indent="-296326"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2667"/>
            </a:lvl1pPr>
            <a:lvl2pPr marL="535504" indent="-230712">
              <a:buClr>
                <a:srgbClr val="E46102"/>
              </a:buClr>
              <a:buSzPct val="100000"/>
              <a:buFont typeface="Arial" panose="020B0604020202020204" pitchFamily="34" charset="0"/>
              <a:buChar char="•"/>
              <a:tabLst/>
              <a:defRPr sz="2400"/>
            </a:lvl2pPr>
            <a:lvl3pPr marL="840296" indent="-230712">
              <a:buClr>
                <a:srgbClr val="E46102"/>
              </a:buClr>
              <a:buSzPct val="100000"/>
              <a:buFont typeface="Wingdings" pitchFamily="2" charset="2"/>
              <a:buChar char="§"/>
              <a:tabLst/>
              <a:defRPr sz="2133"/>
            </a:lvl3pPr>
            <a:lvl4pPr marL="1073124" indent="-232828">
              <a:buClr>
                <a:srgbClr val="D95E00"/>
              </a:buClr>
              <a:buFont typeface="System Font Regular"/>
              <a:buChar char="&gt;"/>
              <a:tabLst/>
              <a:defRPr sz="1867"/>
            </a:lvl4pPr>
            <a:lvl5pPr marL="1301717" indent="-228594">
              <a:buClr>
                <a:srgbClr val="D95E00"/>
              </a:buClr>
              <a:buFont typeface="Wingdings" pitchFamily="2" charset="2"/>
              <a:buChar char="§"/>
              <a:tabLst/>
              <a:defRPr sz="1600"/>
            </a:lvl5pPr>
            <a:lvl6pPr marL="1295368" indent="0">
              <a:buClr>
                <a:srgbClr val="D95E00"/>
              </a:buClr>
              <a:buFont typeface="System Font Regular"/>
              <a:buNone/>
              <a:tabLst/>
              <a:defRPr sz="1467"/>
            </a:lvl6pPr>
            <a:lvl7pPr marL="1526078" indent="0">
              <a:buClr>
                <a:srgbClr val="D95E00"/>
              </a:buClr>
              <a:buFont typeface="Wingdings" pitchFamily="2" charset="2"/>
              <a:buNone/>
              <a:tabLst/>
              <a:defRPr sz="1333"/>
            </a:lvl7pPr>
          </a:lstStyle>
          <a:p>
            <a:pPr lvl="0"/>
            <a:r>
              <a:rPr lang="en-US" dirty="0"/>
              <a:t>Click to add bullet</a:t>
            </a:r>
          </a:p>
          <a:p>
            <a:pPr lvl="1"/>
            <a:r>
              <a:rPr lang="en-US" dirty="0"/>
              <a:t>Click to add sub-bullet</a:t>
            </a:r>
          </a:p>
          <a:p>
            <a:pPr lvl="2"/>
            <a:r>
              <a:rPr lang="en-US" dirty="0"/>
              <a:t>Click to add sub-sub-bullet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1383E86-B978-174B-B3F5-A6CC484326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511800"/>
            <a:ext cx="12192000" cy="1346200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lnSpc>
                <a:spcPct val="90000"/>
              </a:lnSpc>
              <a:buNone/>
              <a:defRPr b="0" i="1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lang="en-US" dirty="0"/>
              <a:t>Please do not put content in this space.   It is reserved for live captioning.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856AB1-AAB5-DD41-A548-FB33E6E9490C}"/>
              </a:ext>
            </a:extLst>
          </p:cNvPr>
          <p:cNvCxnSpPr/>
          <p:nvPr userDrawn="1"/>
        </p:nvCxnSpPr>
        <p:spPr>
          <a:xfrm>
            <a:off x="272085" y="512494"/>
            <a:ext cx="2674747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BF8741-1247-824C-927C-EC3E8FDB5013}"/>
              </a:ext>
            </a:extLst>
          </p:cNvPr>
          <p:cNvCxnSpPr/>
          <p:nvPr userDrawn="1"/>
        </p:nvCxnSpPr>
        <p:spPr>
          <a:xfrm>
            <a:off x="3376635" y="512494"/>
            <a:ext cx="8485403" cy="0"/>
          </a:xfrm>
          <a:prstGeom prst="line">
            <a:avLst/>
          </a:prstGeom>
          <a:ln w="127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E63B3BD3-FFCD-2847-A680-FC79E81D1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085" y="984154"/>
            <a:ext cx="3607765" cy="4525843"/>
          </a:xfrm>
          <a:prstGeom prst="rect">
            <a:avLst/>
          </a:prstGeom>
        </p:spPr>
        <p:txBody>
          <a:bodyPr/>
          <a:lstStyle>
            <a:lvl1pPr algn="l">
              <a:defRPr sz="4267" b="1" i="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Main Header</a:t>
            </a:r>
          </a:p>
        </p:txBody>
      </p:sp>
    </p:spTree>
    <p:extLst>
      <p:ext uri="{BB962C8B-B14F-4D97-AF65-F5344CB8AC3E}">
        <p14:creationId xmlns:p14="http://schemas.microsoft.com/office/powerpoint/2010/main" val="3589062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AC8303E-CB79-A645-BEF9-D0CD24C49717}"/>
              </a:ext>
            </a:extLst>
          </p:cNvPr>
          <p:cNvCxnSpPr/>
          <p:nvPr userDrawn="1"/>
        </p:nvCxnSpPr>
        <p:spPr>
          <a:xfrm>
            <a:off x="272085" y="513092"/>
            <a:ext cx="2674747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A4F9A6-C8EF-1F4A-8155-1567273829D2}"/>
              </a:ext>
            </a:extLst>
          </p:cNvPr>
          <p:cNvCxnSpPr/>
          <p:nvPr userDrawn="1"/>
        </p:nvCxnSpPr>
        <p:spPr>
          <a:xfrm>
            <a:off x="3376635" y="513092"/>
            <a:ext cx="8485403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1383E86-B978-174B-B3F5-A6CC484326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lnSpc>
                <a:spcPct val="90000"/>
              </a:lnSpc>
              <a:buNone/>
              <a:defRPr b="0" i="1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lang="en-US" dirty="0"/>
              <a:t>Please do not put content in this space.   It is reserved for live captioning.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06909BC-83A5-ED42-AE34-D78DAEC3F2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2085" y="1744225"/>
            <a:ext cx="11589952" cy="3767575"/>
          </a:xfrm>
          <a:prstGeom prst="rect">
            <a:avLst/>
          </a:prstGeom>
        </p:spPr>
        <p:txBody>
          <a:bodyPr/>
          <a:lstStyle>
            <a:lvl1pPr marL="304792" indent="-304792"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3200" b="1"/>
            </a:lvl1pPr>
            <a:lvl2pPr marL="609585" indent="-304792">
              <a:buClr>
                <a:srgbClr val="E46102"/>
              </a:buClr>
              <a:buFont typeface="Arial" panose="020B0604020202020204" pitchFamily="34" charset="0"/>
              <a:buChar char="•"/>
              <a:tabLst/>
              <a:defRPr sz="2667"/>
            </a:lvl2pPr>
            <a:lvl3pPr marL="914377" indent="-304792">
              <a:buClr>
                <a:srgbClr val="E46102"/>
              </a:buClr>
              <a:buSzPct val="100000"/>
              <a:buFont typeface="Wingdings" pitchFamily="2" charset="2"/>
              <a:buChar char="§"/>
              <a:tabLst/>
              <a:defRPr sz="2400"/>
            </a:lvl3pPr>
            <a:lvl4pPr marL="1221287" indent="-306910">
              <a:buClr>
                <a:srgbClr val="D95E00"/>
              </a:buClr>
              <a:buFont typeface="System Font Regular"/>
              <a:buChar char="&gt;"/>
              <a:tabLst/>
              <a:defRPr sz="2133"/>
            </a:lvl4pPr>
            <a:lvl5pPr marL="1526079" indent="-304792">
              <a:buClr>
                <a:srgbClr val="D95E00"/>
              </a:buClr>
              <a:buFont typeface="Wingdings" pitchFamily="2" charset="2"/>
              <a:buChar char="§"/>
              <a:tabLst/>
              <a:defRPr sz="1867"/>
            </a:lvl5pPr>
            <a:lvl6pPr marL="1756789" indent="-230712">
              <a:buClr>
                <a:srgbClr val="D95E00"/>
              </a:buClr>
              <a:buFont typeface="System Font Regular"/>
              <a:buChar char="&gt;"/>
              <a:tabLst/>
              <a:defRPr sz="1600"/>
            </a:lvl6pPr>
            <a:lvl7pPr marL="1904952" indent="-148163">
              <a:buClr>
                <a:srgbClr val="D95E00"/>
              </a:buClr>
              <a:buFont typeface="Wingdings" pitchFamily="2" charset="2"/>
              <a:buChar char="§"/>
              <a:tabLst/>
              <a:defRPr sz="1333"/>
            </a:lvl7pPr>
            <a:lvl8pPr marL="2061582" indent="-156629">
              <a:buClr>
                <a:srgbClr val="D95E00"/>
              </a:buClr>
              <a:buFont typeface="System Font Regular"/>
              <a:buChar char="&gt;"/>
              <a:tabLst/>
              <a:defRPr sz="1200"/>
            </a:lvl8pPr>
          </a:lstStyle>
          <a:p>
            <a:pPr lvl="0"/>
            <a:r>
              <a:rPr lang="en-US" dirty="0"/>
              <a:t>Click to add bullet</a:t>
            </a:r>
          </a:p>
          <a:p>
            <a:pPr lvl="1"/>
            <a:r>
              <a:rPr lang="en-US" dirty="0"/>
              <a:t>Click to add sub-bullet</a:t>
            </a:r>
          </a:p>
          <a:p>
            <a:pPr lvl="2"/>
            <a:r>
              <a:rPr lang="en-US" dirty="0"/>
              <a:t>Click to add sub-sub bullet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FD7795-12BD-2D42-B73A-5BFF0F9179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085" y="958452"/>
            <a:ext cx="10355658" cy="696384"/>
          </a:xfrm>
          <a:prstGeom prst="rect">
            <a:avLst/>
          </a:prstGeom>
        </p:spPr>
        <p:txBody>
          <a:bodyPr/>
          <a:lstStyle>
            <a:lvl1pPr algn="l">
              <a:defRPr sz="3733" b="1" i="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Header</a:t>
            </a:r>
          </a:p>
        </p:txBody>
      </p:sp>
    </p:spTree>
    <p:extLst>
      <p:ext uri="{BB962C8B-B14F-4D97-AF65-F5344CB8AC3E}">
        <p14:creationId xmlns:p14="http://schemas.microsoft.com/office/powerpoint/2010/main" val="867405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Pag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ACF15DD-277E-394F-AFCE-926578BEF7F1}"/>
              </a:ext>
            </a:extLst>
          </p:cNvPr>
          <p:cNvCxnSpPr/>
          <p:nvPr userDrawn="1"/>
        </p:nvCxnSpPr>
        <p:spPr>
          <a:xfrm>
            <a:off x="272085" y="513092"/>
            <a:ext cx="2674747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D8B4FE-5E61-2942-9F67-A4F6AD7FECA1}"/>
              </a:ext>
            </a:extLst>
          </p:cNvPr>
          <p:cNvCxnSpPr/>
          <p:nvPr userDrawn="1"/>
        </p:nvCxnSpPr>
        <p:spPr>
          <a:xfrm>
            <a:off x="3376635" y="513092"/>
            <a:ext cx="8485403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62AB3FC8-2388-7847-86DB-E5B5333EAC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lnSpc>
                <a:spcPct val="90000"/>
              </a:lnSpc>
              <a:buNone/>
              <a:defRPr b="0" i="1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lang="en-US" dirty="0"/>
              <a:t>Please do not put content in this space.   It is reserved for live captioning.</a:t>
            </a:r>
          </a:p>
        </p:txBody>
      </p:sp>
      <p:sp>
        <p:nvSpPr>
          <p:cNvPr id="7" name="Content Placeholder 18">
            <a:extLst>
              <a:ext uri="{FF2B5EF4-FFF2-40B4-BE49-F238E27FC236}">
                <a16:creationId xmlns:a16="http://schemas.microsoft.com/office/drawing/2014/main" id="{E61379B3-CA22-7E42-8FE3-E2D09D72196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72085" y="863428"/>
            <a:ext cx="11589952" cy="463990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i="1"/>
            </a:lvl1pPr>
          </a:lstStyle>
          <a:p>
            <a:pPr lvl="0"/>
            <a:r>
              <a:rPr lang="en-US" dirty="0"/>
              <a:t>Place image/chart here</a:t>
            </a:r>
          </a:p>
        </p:txBody>
      </p:sp>
    </p:spTree>
    <p:extLst>
      <p:ext uri="{BB962C8B-B14F-4D97-AF65-F5344CB8AC3E}">
        <p14:creationId xmlns:p14="http://schemas.microsoft.com/office/powerpoint/2010/main" val="823253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4EEE75-1C0C-DF43-8A1A-F55F70A0076A}"/>
              </a:ext>
            </a:extLst>
          </p:cNvPr>
          <p:cNvCxnSpPr/>
          <p:nvPr userDrawn="1"/>
        </p:nvCxnSpPr>
        <p:spPr>
          <a:xfrm>
            <a:off x="272085" y="513092"/>
            <a:ext cx="2674747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33C26C-CF75-E04A-98EB-7AEC198CFEE8}"/>
              </a:ext>
            </a:extLst>
          </p:cNvPr>
          <p:cNvCxnSpPr/>
          <p:nvPr userDrawn="1"/>
        </p:nvCxnSpPr>
        <p:spPr>
          <a:xfrm>
            <a:off x="3376635" y="513092"/>
            <a:ext cx="8485403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AD0B3782-2422-A544-AEA8-0DA96AAE55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lnSpc>
                <a:spcPct val="90000"/>
              </a:lnSpc>
              <a:buNone/>
              <a:defRPr b="0" i="1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lang="en-US" dirty="0"/>
              <a:t>Please do not put content in this space.   It is reserved for live captioning.</a:t>
            </a:r>
          </a:p>
        </p:txBody>
      </p:sp>
      <p:sp>
        <p:nvSpPr>
          <p:cNvPr id="14" name="Content Placeholder 18">
            <a:extLst>
              <a:ext uri="{FF2B5EF4-FFF2-40B4-BE49-F238E27FC236}">
                <a16:creationId xmlns:a16="http://schemas.microsoft.com/office/drawing/2014/main" id="{D44BC06C-7E1C-4845-973D-DCD63FB136F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56867" y="863692"/>
            <a:ext cx="5604933" cy="4639642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i="1"/>
            </a:lvl1pPr>
          </a:lstStyle>
          <a:p>
            <a:pPr lvl="0"/>
            <a:r>
              <a:rPr lang="en-US" dirty="0"/>
              <a:t>Place image/chart here</a:t>
            </a:r>
          </a:p>
        </p:txBody>
      </p:sp>
      <p:sp>
        <p:nvSpPr>
          <p:cNvPr id="15" name="Content Placeholder 18">
            <a:extLst>
              <a:ext uri="{FF2B5EF4-FFF2-40B4-BE49-F238E27FC236}">
                <a16:creationId xmlns:a16="http://schemas.microsoft.com/office/drawing/2014/main" id="{AA93BCA3-E265-CD4C-9883-62DC1D15F3D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72085" y="863428"/>
            <a:ext cx="5612248" cy="463990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i="1"/>
            </a:lvl1pPr>
          </a:lstStyle>
          <a:p>
            <a:pPr lvl="0"/>
            <a:r>
              <a:rPr lang="en-US" dirty="0"/>
              <a:t>Place image/chart here</a:t>
            </a:r>
          </a:p>
        </p:txBody>
      </p:sp>
    </p:spTree>
    <p:extLst>
      <p:ext uri="{BB962C8B-B14F-4D97-AF65-F5344CB8AC3E}">
        <p14:creationId xmlns:p14="http://schemas.microsoft.com/office/powerpoint/2010/main" val="1267019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E70DBF-129D-BB48-BBFF-08F62952F603}"/>
              </a:ext>
            </a:extLst>
          </p:cNvPr>
          <p:cNvCxnSpPr/>
          <p:nvPr userDrawn="1"/>
        </p:nvCxnSpPr>
        <p:spPr>
          <a:xfrm>
            <a:off x="272085" y="513092"/>
            <a:ext cx="2674747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FE58E4D-9595-E14C-8259-3EDBF9F54A84}"/>
              </a:ext>
            </a:extLst>
          </p:cNvPr>
          <p:cNvCxnSpPr/>
          <p:nvPr userDrawn="1"/>
        </p:nvCxnSpPr>
        <p:spPr>
          <a:xfrm>
            <a:off x="3376635" y="513092"/>
            <a:ext cx="8485403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9CF2F8B1-9E2E-5040-B217-FCC725F966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lnSpc>
                <a:spcPct val="90000"/>
              </a:lnSpc>
              <a:buNone/>
              <a:defRPr b="0" i="1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lang="en-US" dirty="0"/>
              <a:t>Please do not put content in this space.   It is reserved for live captioning.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BFBAF58-1BBE-824B-9BD9-DF65670E97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4584" y="1873340"/>
            <a:ext cx="3471333" cy="36384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67"/>
            </a:lvl1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80FC676F-AD0F-3045-85E2-F41B9DF0A6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000501" y="863692"/>
            <a:ext cx="7861300" cy="4639642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i="1"/>
            </a:lvl1pPr>
          </a:lstStyle>
          <a:p>
            <a:pPr lvl="0"/>
            <a:r>
              <a:rPr lang="en-US" dirty="0"/>
              <a:t>Place image/chart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D9BD4C-94EB-2343-8337-134562E291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584" y="862676"/>
            <a:ext cx="3471333" cy="803182"/>
          </a:xfrm>
          <a:prstGeom prst="rect">
            <a:avLst/>
          </a:prstGeom>
        </p:spPr>
        <p:txBody>
          <a:bodyPr/>
          <a:lstStyle>
            <a:lvl1pPr algn="l">
              <a:defRPr sz="4267" b="1" i="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Main Header</a:t>
            </a:r>
          </a:p>
        </p:txBody>
      </p:sp>
    </p:spTree>
    <p:extLst>
      <p:ext uri="{BB962C8B-B14F-4D97-AF65-F5344CB8AC3E}">
        <p14:creationId xmlns:p14="http://schemas.microsoft.com/office/powerpoint/2010/main" val="1030281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1FDB69-C179-3341-AEF3-D2B3896FB825}"/>
              </a:ext>
            </a:extLst>
          </p:cNvPr>
          <p:cNvCxnSpPr/>
          <p:nvPr userDrawn="1"/>
        </p:nvCxnSpPr>
        <p:spPr>
          <a:xfrm>
            <a:off x="272085" y="513091"/>
            <a:ext cx="2674747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8ECA973-8475-EF41-8C88-BE7633966CF5}"/>
              </a:ext>
            </a:extLst>
          </p:cNvPr>
          <p:cNvCxnSpPr/>
          <p:nvPr userDrawn="1"/>
        </p:nvCxnSpPr>
        <p:spPr>
          <a:xfrm>
            <a:off x="3376635" y="513091"/>
            <a:ext cx="8485403" cy="0"/>
          </a:xfrm>
          <a:prstGeom prst="line">
            <a:avLst/>
          </a:prstGeom>
          <a:ln w="127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7DF7C01A-B350-7B45-A49E-C3717CC86D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lnSpc>
                <a:spcPct val="90000"/>
              </a:lnSpc>
              <a:buNone/>
              <a:defRPr b="0" i="1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lang="en-US" dirty="0"/>
              <a:t>Please do not put content in this space.   It is reserved for live captioning.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82F3CD-3D17-914E-88EA-A50C55E237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433" y="198708"/>
            <a:ext cx="556192" cy="2185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CC0E3C-2123-DD4D-931C-F62C3737E6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085" y="3987798"/>
            <a:ext cx="11589952" cy="1524000"/>
          </a:xfrm>
          <a:prstGeom prst="rect">
            <a:avLst/>
          </a:prstGeom>
        </p:spPr>
        <p:txBody>
          <a:bodyPr/>
          <a:lstStyle>
            <a:lvl1pPr algn="l">
              <a:defRPr sz="5330" b="1" i="0" baseline="0"/>
            </a:lvl1pPr>
          </a:lstStyle>
          <a:p>
            <a:r>
              <a:rPr lang="en-US" dirty="0"/>
              <a:t>Click to add Transition Title</a:t>
            </a:r>
          </a:p>
        </p:txBody>
      </p:sp>
    </p:spTree>
    <p:extLst>
      <p:ext uri="{BB962C8B-B14F-4D97-AF65-F5344CB8AC3E}">
        <p14:creationId xmlns:p14="http://schemas.microsoft.com/office/powerpoint/2010/main" val="2237931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r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17F9755-C0DA-B244-B730-B308E60924F8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461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accent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7FF2CB-58B7-5049-BADD-41D07A0154D8}"/>
              </a:ext>
            </a:extLst>
          </p:cNvPr>
          <p:cNvCxnSpPr/>
          <p:nvPr userDrawn="1"/>
        </p:nvCxnSpPr>
        <p:spPr>
          <a:xfrm>
            <a:off x="272085" y="513091"/>
            <a:ext cx="2674747" cy="0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5B524D-D7AF-4B4A-B485-6A922EDBF1D0}"/>
              </a:ext>
            </a:extLst>
          </p:cNvPr>
          <p:cNvCxnSpPr/>
          <p:nvPr userDrawn="1"/>
        </p:nvCxnSpPr>
        <p:spPr>
          <a:xfrm>
            <a:off x="3376635" y="513091"/>
            <a:ext cx="8485403" cy="0"/>
          </a:xfrm>
          <a:prstGeom prst="line">
            <a:avLst/>
          </a:prstGeom>
          <a:ln w="127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079EB260-1A7B-174A-AA51-12AAD061D7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lnSpc>
                <a:spcPct val="90000"/>
              </a:lnSpc>
              <a:buNone/>
              <a:defRPr b="0" i="1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lang="en-US" dirty="0"/>
              <a:t>Please do not put content in this space.   It is reserved for live captioning.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9EDA26-0ACE-9A47-99A2-05436A5D85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433" y="198708"/>
            <a:ext cx="556192" cy="2185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A29C41-3442-1A46-B586-6B645C5B9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085" y="4256023"/>
            <a:ext cx="11589952" cy="1253062"/>
          </a:xfrm>
          <a:prstGeom prst="rect">
            <a:avLst/>
          </a:prstGeom>
        </p:spPr>
        <p:txBody>
          <a:bodyPr/>
          <a:lstStyle>
            <a:lvl1pPr algn="l">
              <a:defRPr sz="7200" b="1" i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732084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emf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1476827" y="257543"/>
            <a:ext cx="1241077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 dirty="0">
                <a:latin typeface="Georgia"/>
                <a:cs typeface="Georgia"/>
              </a:rPr>
              <a:t>|  </a:t>
            </a:r>
            <a:fld id="{606D2650-017B-BC48-A893-0334FE68CCF7}" type="slidenum">
              <a:rPr lang="en-US" sz="1133" smtClean="0">
                <a:latin typeface="Arial" panose="020B0604020202020204" pitchFamily="34" charset="0"/>
                <a:cs typeface="Arial" panose="020B0604020202020204" pitchFamily="34" charset="0"/>
              </a:rPr>
              <a:pPr algn="l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D145F7-0212-424C-84CF-3AAA37DF7A2C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58433" y="198708"/>
            <a:ext cx="556192" cy="2185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F6F6C9-18D5-3341-8495-872E5DE457C6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9218566" y="304811"/>
            <a:ext cx="2258261" cy="13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808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724EE-C89A-7B45-9CBB-44295CCB950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74F92A-6198-1742-B0A4-23BA8B3D52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8845" y="5108384"/>
            <a:ext cx="5421167" cy="338554"/>
          </a:xfrm>
        </p:spPr>
        <p:txBody>
          <a:bodyPr/>
          <a:lstStyle/>
          <a:p>
            <a:r>
              <a:rPr lang="en-US" dirty="0"/>
              <a:t>Rochester Institute of Technology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C88C61-B040-E84F-82A1-8377A1768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83" y="246613"/>
            <a:ext cx="5899017" cy="1560866"/>
          </a:xfrm>
        </p:spPr>
        <p:txBody>
          <a:bodyPr>
            <a:noAutofit/>
          </a:bodyPr>
          <a:lstStyle/>
          <a:p>
            <a:r>
              <a:rPr lang="en-US" sz="4400" dirty="0"/>
              <a:t>Deep Sequential Architectures for Financial Time Series Classification</a:t>
            </a:r>
            <a:br>
              <a:rPr lang="en-US" sz="4400" dirty="0"/>
            </a:br>
            <a:br>
              <a:rPr lang="en-US" sz="4400" dirty="0"/>
            </a:br>
            <a:endParaRPr lang="en-US" sz="4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A9869D7-0027-9647-8A2E-64FE37154588}"/>
              </a:ext>
            </a:extLst>
          </p:cNvPr>
          <p:cNvSpPr txBox="1">
            <a:spLocks/>
          </p:cNvSpPr>
          <p:nvPr/>
        </p:nvSpPr>
        <p:spPr>
          <a:xfrm>
            <a:off x="349383" y="3031320"/>
            <a:ext cx="5899017" cy="659087"/>
          </a:xfrm>
          <a:prstGeom prst="rect">
            <a:avLst/>
          </a:prstGeom>
        </p:spPr>
        <p:txBody>
          <a:bodyPr/>
          <a:lstStyle>
            <a:lvl1pPr algn="l" defTabSz="609585" rtl="0" eaLnBrk="1" latinLnBrk="0" hangingPunct="1">
              <a:spcBef>
                <a:spcPct val="0"/>
              </a:spcBef>
              <a:buNone/>
              <a:defRPr sz="6000" b="1" i="0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0070C0"/>
                </a:solidFill>
              </a:rPr>
              <a:t>CMPE 679 Deep Learning Project Proposal</a:t>
            </a:r>
          </a:p>
          <a:p>
            <a:br>
              <a:rPr lang="en-US" sz="2400" dirty="0">
                <a:solidFill>
                  <a:srgbClr val="0070C0"/>
                </a:solidFill>
              </a:rPr>
            </a:b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EBC1857-4BF2-3C93-C074-74D40BE94F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9384" y="4371948"/>
            <a:ext cx="5421167" cy="615553"/>
          </a:xfrm>
        </p:spPr>
        <p:txBody>
          <a:bodyPr/>
          <a:lstStyle/>
          <a:p>
            <a:pPr algn="ctr"/>
            <a:r>
              <a:rPr lang="en-US" dirty="0"/>
              <a:t>Obumneme </a:t>
            </a:r>
            <a:r>
              <a:rPr lang="en-US" dirty="0" err="1"/>
              <a:t>Umeonwuka</a:t>
            </a:r>
            <a:r>
              <a:rPr lang="en-US" dirty="0"/>
              <a:t> &amp; Gloria Mbaka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900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C2FA116-8A36-E240-8358-67CD7B009C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085" y="2027425"/>
            <a:ext cx="7533337" cy="2949193"/>
          </a:xfrm>
        </p:spPr>
        <p:txBody>
          <a:bodyPr/>
          <a:lstStyle/>
          <a:p>
            <a:r>
              <a:rPr lang="en-US" sz="2400" dirty="0"/>
              <a:t>Introduction</a:t>
            </a:r>
          </a:p>
          <a:p>
            <a:r>
              <a:rPr lang="en-US" sz="2400" dirty="0"/>
              <a:t>Research Question</a:t>
            </a:r>
          </a:p>
          <a:p>
            <a:r>
              <a:rPr lang="en-US" sz="2400" dirty="0"/>
              <a:t>Problem Motivation</a:t>
            </a:r>
          </a:p>
          <a:p>
            <a:r>
              <a:rPr lang="en-US" sz="2400" dirty="0"/>
              <a:t>Related Works</a:t>
            </a:r>
          </a:p>
          <a:p>
            <a:r>
              <a:rPr lang="en-US" sz="2400" dirty="0"/>
              <a:t>Architectures to be Evaluated</a:t>
            </a:r>
          </a:p>
          <a:p>
            <a:r>
              <a:rPr lang="en-US" sz="2400" dirty="0"/>
              <a:t>Training Modalities</a:t>
            </a:r>
          </a:p>
          <a:p>
            <a:r>
              <a:rPr lang="en-US" sz="2400" dirty="0"/>
              <a:t>Expected Outcomes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16E84DA-B043-B84F-BE0C-BB02FBB5CE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BF196AC-E991-C045-9135-B9CB5AC81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085" y="984154"/>
            <a:ext cx="11264595" cy="751929"/>
          </a:xfrm>
        </p:spPr>
        <p:txBody>
          <a:bodyPr/>
          <a:lstStyle/>
          <a:p>
            <a:r>
              <a:rPr lang="en-US" sz="3700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4251840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D0DEF6-1001-104D-826A-1DC2BB88DB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9D83E-3BA9-214D-9245-7BB33BD68AD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72084" y="1591288"/>
            <a:ext cx="11299805" cy="3548075"/>
          </a:xfrm>
        </p:spPr>
        <p:txBody>
          <a:bodyPr/>
          <a:lstStyle/>
          <a:p>
            <a:r>
              <a:rPr lang="en-US" sz="2000" b="0" dirty="0"/>
              <a:t>Financial time series are nonlinear, noisy, and exhibit complex temporal dependencies. Traditional machine learning models fail to explicitly capture sequential structure.</a:t>
            </a:r>
          </a:p>
          <a:p>
            <a:endParaRPr lang="en-US" sz="2000" b="0" dirty="0"/>
          </a:p>
          <a:p>
            <a:r>
              <a:rPr lang="en-US" sz="2000" b="0" dirty="0">
                <a:ea typeface="Arial" pitchFamily="34" charset="-122"/>
                <a:cs typeface="Arial" pitchFamily="34" charset="-120"/>
              </a:rPr>
              <a:t>This project investigates deep sequential neural architectures for short-horizon financial signal classification, evaluating MLPs, CNNs, RNNs (LSTM/GRU), hybrid CNN-RNN models, and attention-based architectures.</a:t>
            </a:r>
            <a:endParaRPr lang="en-US" sz="2000" b="0" dirty="0"/>
          </a:p>
          <a:p>
            <a:pPr marL="304793" lvl="1" indent="0">
              <a:buNone/>
            </a:pPr>
            <a:endParaRPr lang="en-US" sz="2000" dirty="0"/>
          </a:p>
          <a:p>
            <a:pPr lvl="1"/>
            <a:endParaRPr lang="en-US" sz="2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A70D4E-4B9D-DC40-9817-4A0D3A20B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085" y="689919"/>
            <a:ext cx="10355658" cy="696384"/>
          </a:xfrm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172757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F0A0165-C2D5-5D48-9FE7-A3A69B7497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6060DA-52EB-1844-AA73-AC282F2E58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400" dirty="0"/>
              <a:t>How do different sequential deep learning architectures compare in learning temporal representations for short-horizon financial direction prediction?</a:t>
            </a:r>
          </a:p>
          <a:p>
            <a:endParaRPr lang="en-US" sz="2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63CB79-02A5-B84A-8441-B4F406299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085" y="699649"/>
            <a:ext cx="10355658" cy="696384"/>
          </a:xfrm>
        </p:spPr>
        <p:txBody>
          <a:bodyPr/>
          <a:lstStyle/>
          <a:p>
            <a:pPr algn="ctr"/>
            <a:r>
              <a:rPr lang="en-US" dirty="0"/>
              <a:t>Research Questions</a:t>
            </a:r>
          </a:p>
        </p:txBody>
      </p:sp>
    </p:spTree>
    <p:extLst>
      <p:ext uri="{BB962C8B-B14F-4D97-AF65-F5344CB8AC3E}">
        <p14:creationId xmlns:p14="http://schemas.microsoft.com/office/powerpoint/2010/main" val="3399009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248F7CF-20E3-D248-9DD1-4F5813ABB5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2A74C-3ACB-7449-AD22-E24A1A0BB4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72086" y="1744226"/>
            <a:ext cx="10085860" cy="3767575"/>
          </a:xfrm>
        </p:spPr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rPr lang="en-US" sz="2400" b="0" dirty="0"/>
              <a:t>Financial markets generate sequential data with volatility clustering and regime shifts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endParaRPr lang="en-US" sz="2400" b="0" dirty="0"/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lang="en-US" sz="2400" b="0" dirty="0"/>
              <a:t>Short-horizon prediction is challenging due to low signal-to-noise ratios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endParaRPr lang="en-US" sz="2400" b="0" dirty="0"/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lang="en-US" sz="2400" b="0" dirty="0"/>
              <a:t>Classical ML models lack structured temporal memory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endParaRPr lang="en-US" sz="2400" b="0" dirty="0"/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lang="en-US" sz="2400" b="0" dirty="0"/>
              <a:t>Deep sequential architectures explicitly model temporal dependencies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698D181-DFA6-6A41-A8B1-E171189A7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085" y="699649"/>
            <a:ext cx="10355658" cy="696384"/>
          </a:xfrm>
        </p:spPr>
        <p:txBody>
          <a:bodyPr/>
          <a:lstStyle/>
          <a:p>
            <a:pPr algn="ctr"/>
            <a:r>
              <a:rPr lang="en-US" dirty="0"/>
              <a:t>Problem Motivation</a:t>
            </a:r>
          </a:p>
        </p:txBody>
      </p:sp>
    </p:spTree>
    <p:extLst>
      <p:ext uri="{BB962C8B-B14F-4D97-AF65-F5344CB8AC3E}">
        <p14:creationId xmlns:p14="http://schemas.microsoft.com/office/powerpoint/2010/main" val="3872261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8AAC26-BE00-3247-971D-79169ECBBA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1701C5-F85F-DB4C-B72D-C64F1F0A75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5599" y="1087853"/>
            <a:ext cx="11589952" cy="5943568"/>
          </a:xfrm>
        </p:spPr>
        <p:txBody>
          <a:bodyPr/>
          <a:lstStyle/>
          <a:p>
            <a:r>
              <a:rPr lang="en-US" sz="1800" dirty="0"/>
              <a:t>Short-Horizon Market Predictability: </a:t>
            </a:r>
            <a:r>
              <a:rPr lang="en-US" sz="1800" b="0" dirty="0"/>
              <a:t>Cryptocurrency markets exhibit high volatility and weak short-term autocorrelation. Jaquart et al. [1] show predictive performance is highly sensitive to horizon selection and chronological validation. This motivates strict time-based splits and careful target construction.</a:t>
            </a:r>
          </a:p>
          <a:p>
            <a:endParaRPr lang="en-US" sz="1800" b="0" dirty="0"/>
          </a:p>
          <a:p>
            <a:r>
              <a:rPr lang="en-US" sz="1800" dirty="0"/>
              <a:t>Convolutional Architectures: </a:t>
            </a:r>
            <a:r>
              <a:rPr lang="en-US" sz="1800" b="0" dirty="0"/>
              <a:t>Bai et al. [2] demonstrate that convolutional sequence models can outperform recurrent networks in some sequence tasks. CNNs capture local temporal patterns using shared filters and can model longer dependencies via dilation.</a:t>
            </a:r>
          </a:p>
          <a:p>
            <a:endParaRPr lang="en-US" sz="1800" dirty="0"/>
          </a:p>
          <a:p>
            <a:r>
              <a:rPr lang="en-US" sz="1800" dirty="0"/>
              <a:t>Recurrent Architectures</a:t>
            </a:r>
            <a:r>
              <a:rPr lang="en-US" sz="1800" b="0" dirty="0"/>
              <a:t>: LSTM [3] introduces gated memory cells to mitigate vanishing gradients.</a:t>
            </a:r>
            <a:br>
              <a:rPr lang="en-US" sz="1800" b="0" dirty="0"/>
            </a:br>
            <a:r>
              <a:rPr lang="en-US" sz="1800" b="0" dirty="0"/>
              <a:t>GRU [4] simplifies gating while maintaining competitive performance. Empirical evaluations in time series forecasting show strong performance of LSTM and GRU [5].</a:t>
            </a:r>
          </a:p>
          <a:p>
            <a:endParaRPr lang="en-US" sz="1800" b="0" dirty="0"/>
          </a:p>
          <a:p>
            <a:r>
              <a:rPr lang="en-US" sz="1800" dirty="0"/>
              <a:t>Hybrid CNN–RNN Models</a:t>
            </a:r>
            <a:r>
              <a:rPr lang="en-US" sz="1800" b="0" dirty="0"/>
              <a:t>: </a:t>
            </a:r>
            <a:r>
              <a:rPr lang="en-US" sz="1800" b="0" dirty="0" err="1"/>
              <a:t>DeepLOB</a:t>
            </a:r>
            <a:r>
              <a:rPr lang="en-US" sz="1800" b="0" dirty="0"/>
              <a:t> [6] demonstrates that convolutional layers can extract hierarchical representations which are then modeled sequentially using recurrent networks. This motivates CNN-LSTM architectures for financial classification</a:t>
            </a:r>
            <a:r>
              <a:rPr lang="en-US" sz="1800" dirty="0"/>
              <a:t>.</a:t>
            </a:r>
          </a:p>
          <a:p>
            <a:endParaRPr lang="en-US" sz="1800" b="0" dirty="0"/>
          </a:p>
          <a:p>
            <a:r>
              <a:rPr lang="en-US" sz="1800" dirty="0"/>
              <a:t>Attention and Transformers: </a:t>
            </a:r>
            <a:r>
              <a:rPr lang="en-US" sz="1800" b="0" dirty="0"/>
              <a:t>Transformers replace recurrence with self-attention [8]. Temporal Fusion Transformer (TFT) extends attention mechanisms for interpretable multi-horizon forecasting [9].  Attention enables dynamic weighting of relevant timesteps.</a:t>
            </a:r>
          </a:p>
          <a:p>
            <a:endParaRPr lang="en-US" sz="1800" b="0" dirty="0"/>
          </a:p>
          <a:p>
            <a:endParaRPr lang="en-US" sz="1800" b="0" dirty="0"/>
          </a:p>
          <a:p>
            <a:endParaRPr lang="en-US" sz="1800" b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896F29-9B8D-D44D-8718-0A59C15B2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085" y="391469"/>
            <a:ext cx="10355658" cy="696384"/>
          </a:xfrm>
        </p:spPr>
        <p:txBody>
          <a:bodyPr/>
          <a:lstStyle/>
          <a:p>
            <a:pPr algn="ctr"/>
            <a:r>
              <a:rPr lang="en-US" dirty="0"/>
              <a:t>Related Works</a:t>
            </a:r>
          </a:p>
        </p:txBody>
      </p:sp>
    </p:spTree>
    <p:extLst>
      <p:ext uri="{BB962C8B-B14F-4D97-AF65-F5344CB8AC3E}">
        <p14:creationId xmlns:p14="http://schemas.microsoft.com/office/powerpoint/2010/main" val="899688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116BA6-D1B6-9D40-8E34-E1F311A6CA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DB8BC8A-A2C8-234D-842C-D34DDE713A48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/>
            <p:txBody>
              <a:bodyPr/>
              <a:lstStyle/>
              <a:p>
                <a:r>
                  <a:rPr lang="en-US" sz="2400" b="0" dirty="0"/>
                  <a:t>Feature vectors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kern="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2400" b="0" dirty="0"/>
                  <a:t>  from OHLCV data and technical indicators</a:t>
                </a:r>
              </a:p>
              <a:p>
                <a:endParaRPr lang="en-US" sz="2400" b="0" dirty="0"/>
              </a:p>
              <a:p>
                <a:r>
                  <a:rPr lang="en-US" sz="2400" b="0" dirty="0"/>
                  <a:t>Construct sequences of length 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kern="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=[</m:t>
                    </m:r>
                    <m:sSub>
                      <m:sSubPr>
                        <m:ctrlPr>
                          <a:rPr lang="en-US" sz="2400" b="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b="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b="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  <m:r>
                          <a:rPr lang="en-US" sz="2400" b="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b="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...</m:t>
                    </m:r>
                    <m:r>
                      <a:rPr lang="en-US" sz="2400" b="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endParaRPr lang="en-US" sz="2400" b="0" dirty="0"/>
              </a:p>
              <a:p>
                <a:endParaRPr lang="en-US" sz="2400" b="0" dirty="0"/>
              </a:p>
              <a:p>
                <a:r>
                  <a:rPr lang="en-US" sz="2400" b="0" dirty="0"/>
                  <a:t>Threshold-based labeling: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kern="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400" b="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b="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sz="2400" b="0" kern="0">
                                  <a:effectLst/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sz="2400" b="0" kern="0">
                                  <a:effectLst/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b="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400" b="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sz="2400" b="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r>
                                <a:rPr lang="en-US" sz="2400" b="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&gt;</m:t>
                              </m:r>
                              <m:r>
                                <a:rPr lang="en-US" sz="2400" b="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𝜏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sz="2400" b="0" kern="0">
                                  <a:effectLst/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sz="2400" b="0" kern="0">
                                  <a:effectLst/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b="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400" b="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sz="2400" b="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r>
                                <a:rPr lang="en-US" sz="2400" b="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&lt;−</m:t>
                              </m:r>
                              <m:r>
                                <a:rPr lang="en-US" sz="2400" b="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𝜏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b="0" dirty="0"/>
              </a:p>
              <a:p>
                <a:endParaRPr lang="en-US" sz="2400" b="0" dirty="0"/>
              </a:p>
              <a:p>
                <a:r>
                  <a:rPr lang="en-US" sz="2400" b="0" dirty="0"/>
                  <a:t>Binary cross-entropy loss optimization</a:t>
                </a:r>
              </a:p>
              <a:p>
                <a:pPr>
                  <a:defRPr sz="1600">
                    <a:solidFill>
                      <a:srgbClr val="000000"/>
                    </a:solidFill>
                  </a:defRPr>
                </a:pPr>
                <a:endParaRPr lang="en-US" sz="2400" b="0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DB8BC8A-A2C8-234D-842C-D34DDE713A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blipFill>
                <a:blip r:embed="rId3"/>
                <a:stretch>
                  <a:fillRect l="-736" t="-971" b="-46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FA2F3D7E-44E0-754D-9994-151A12340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085" y="699649"/>
            <a:ext cx="10355658" cy="696384"/>
          </a:xfrm>
        </p:spPr>
        <p:txBody>
          <a:bodyPr/>
          <a:lstStyle/>
          <a:p>
            <a:pPr algn="ctr"/>
            <a:r>
              <a:rPr lang="en-US" dirty="0"/>
              <a:t>Problem Formulation</a:t>
            </a:r>
          </a:p>
        </p:txBody>
      </p:sp>
    </p:spTree>
    <p:extLst>
      <p:ext uri="{BB962C8B-B14F-4D97-AF65-F5344CB8AC3E}">
        <p14:creationId xmlns:p14="http://schemas.microsoft.com/office/powerpoint/2010/main" val="518613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3367AF-FC52-A946-992D-40EBDA3122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BC01D0D-12AC-D644-A5FA-FDEED2ABD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085" y="577452"/>
            <a:ext cx="10355658" cy="696384"/>
          </a:xfrm>
        </p:spPr>
        <p:txBody>
          <a:bodyPr/>
          <a:lstStyle/>
          <a:p>
            <a:pPr algn="ctr"/>
            <a:r>
              <a:rPr lang="en-US" dirty="0"/>
              <a:t>Architectures to be Evaluated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F749BF4-EFD0-A2CA-9D62-9DE90BC1DB65}"/>
              </a:ext>
            </a:extLst>
          </p:cNvPr>
          <p:cNvSpPr txBox="1">
            <a:spLocks/>
          </p:cNvSpPr>
          <p:nvPr/>
        </p:nvSpPr>
        <p:spPr>
          <a:xfrm>
            <a:off x="431658" y="1853738"/>
            <a:ext cx="4406350" cy="30328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effectLst/>
              </a:rPr>
              <a:t>Data Source</a:t>
            </a:r>
          </a:p>
          <a:p>
            <a:pPr lvl="1"/>
            <a:r>
              <a:rPr lang="en-US" sz="2400" dirty="0">
                <a:effectLst/>
              </a:rPr>
              <a:t>High-frequency cryptocurrency data (Bitcoin 1-minute)</a:t>
            </a:r>
          </a:p>
          <a:p>
            <a:r>
              <a:rPr lang="en-US" sz="2400" dirty="0">
                <a:effectLst/>
              </a:rPr>
              <a:t>Key Features</a:t>
            </a:r>
          </a:p>
          <a:p>
            <a:pPr lvl="1"/>
            <a:r>
              <a:rPr lang="en-US" sz="2400" dirty="0">
                <a:effectLst/>
              </a:rPr>
              <a:t>OHLCV</a:t>
            </a:r>
          </a:p>
          <a:p>
            <a:pPr lvl="1"/>
            <a:r>
              <a:rPr lang="en-US" sz="2400" dirty="0">
                <a:effectLst/>
              </a:rPr>
              <a:t>RSI, MACD</a:t>
            </a:r>
          </a:p>
          <a:p>
            <a:pPr lvl="1"/>
            <a:r>
              <a:rPr lang="en-US" sz="2400" dirty="0">
                <a:effectLst/>
              </a:rPr>
              <a:t>Bollinger Bands</a:t>
            </a:r>
          </a:p>
          <a:p>
            <a:pPr lvl="1"/>
            <a:r>
              <a:rPr lang="en-US" sz="2400" dirty="0">
                <a:effectLst/>
              </a:rPr>
              <a:t>Rolling volatility</a:t>
            </a:r>
          </a:p>
          <a:p>
            <a:pPr lvl="1"/>
            <a:r>
              <a:rPr lang="en-US" sz="2400" dirty="0">
                <a:effectLst/>
              </a:rPr>
              <a:t>Momentum indicators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EA593BD-2857-51AA-3EBB-B41A7B767CDC}"/>
              </a:ext>
            </a:extLst>
          </p:cNvPr>
          <p:cNvSpPr txBox="1">
            <a:spLocks/>
          </p:cNvSpPr>
          <p:nvPr/>
        </p:nvSpPr>
        <p:spPr>
          <a:xfrm>
            <a:off x="8865087" y="1853738"/>
            <a:ext cx="2895255" cy="14556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effectLst/>
              </a:rPr>
              <a:t>Deep Sequential</a:t>
            </a:r>
          </a:p>
          <a:p>
            <a:pPr lvl="1"/>
            <a:r>
              <a:rPr lang="en-US" sz="2400" dirty="0">
                <a:effectLst/>
              </a:rPr>
              <a:t>LSTM</a:t>
            </a:r>
          </a:p>
          <a:p>
            <a:pPr lvl="1"/>
            <a:r>
              <a:rPr lang="en-US" sz="2400" dirty="0">
                <a:effectLst/>
              </a:rPr>
              <a:t>GRU</a:t>
            </a:r>
          </a:p>
          <a:p>
            <a:pPr lvl="1"/>
            <a:r>
              <a:rPr lang="en-US" sz="2400" dirty="0">
                <a:effectLst/>
              </a:rPr>
              <a:t>CNN-LSTM</a:t>
            </a:r>
          </a:p>
          <a:p>
            <a:pPr lvl="1"/>
            <a:r>
              <a:rPr lang="en-US" sz="2400" dirty="0">
                <a:effectLst/>
              </a:rPr>
              <a:t>Transformer / TFT</a:t>
            </a:r>
          </a:p>
          <a:p>
            <a:pPr lvl="1"/>
            <a:endParaRPr lang="en-US" sz="2400" dirty="0">
              <a:effectLst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4372EE4-4908-A064-CBBC-6FAF91906C95}"/>
              </a:ext>
            </a:extLst>
          </p:cNvPr>
          <p:cNvSpPr txBox="1">
            <a:spLocks/>
          </p:cNvSpPr>
          <p:nvPr/>
        </p:nvSpPr>
        <p:spPr>
          <a:xfrm>
            <a:off x="5055776" y="1878676"/>
            <a:ext cx="3578628" cy="1645920"/>
          </a:xfrm>
          <a:prstGeom prst="rect">
            <a:avLst/>
          </a:prstGeom>
        </p:spPr>
        <p:txBody>
          <a:bodyPr>
            <a:noAutofit/>
          </a:bodyPr>
          <a:lstStyle>
            <a:lvl1pPr marL="457189" indent="-457189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609585" rtl="0" eaLnBrk="1" latinLnBrk="0" hangingPunct="1">
              <a:spcBef>
                <a:spcPct val="20000"/>
              </a:spcBef>
              <a:buFont typeface="Arial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Baselines</a:t>
            </a:r>
          </a:p>
          <a:p>
            <a:pPr lvl="1"/>
            <a:r>
              <a:rPr lang="en-US" sz="2400" dirty="0"/>
              <a:t>Random Forest</a:t>
            </a:r>
          </a:p>
          <a:p>
            <a:pPr lvl="1"/>
            <a:r>
              <a:rPr lang="en-US" sz="2400" dirty="0"/>
              <a:t>Gradient Boosting</a:t>
            </a:r>
          </a:p>
          <a:p>
            <a:pPr lvl="1"/>
            <a:r>
              <a:rPr lang="en-US" sz="2400" dirty="0"/>
              <a:t>MLP</a:t>
            </a:r>
          </a:p>
        </p:txBody>
      </p:sp>
    </p:spTree>
    <p:extLst>
      <p:ext uri="{BB962C8B-B14F-4D97-AF65-F5344CB8AC3E}">
        <p14:creationId xmlns:p14="http://schemas.microsoft.com/office/powerpoint/2010/main" val="2151618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4840B1-2AAA-BA49-8A62-EA276E157D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30B127F-5582-284F-8A92-99A34ED69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444" y="610260"/>
            <a:ext cx="10355658" cy="696384"/>
          </a:xfrm>
        </p:spPr>
        <p:txBody>
          <a:bodyPr/>
          <a:lstStyle/>
          <a:p>
            <a:pPr algn="ctr"/>
            <a:r>
              <a:rPr lang="en-US" dirty="0"/>
              <a:t>Training Modalities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2D420FB-588E-832C-855A-F478ABA4CE29}"/>
              </a:ext>
            </a:extLst>
          </p:cNvPr>
          <p:cNvSpPr txBox="1">
            <a:spLocks/>
          </p:cNvSpPr>
          <p:nvPr/>
        </p:nvSpPr>
        <p:spPr>
          <a:xfrm>
            <a:off x="275705" y="1306644"/>
            <a:ext cx="6052270" cy="4350456"/>
          </a:xfrm>
          <a:prstGeom prst="rect">
            <a:avLst/>
          </a:prstGeom>
        </p:spPr>
        <p:txBody>
          <a:bodyPr>
            <a:noAutofit/>
          </a:bodyPr>
          <a:lstStyle>
            <a:lvl1pPr marL="457189" indent="-457189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609585" rtl="0" eaLnBrk="1" latinLnBrk="0" hangingPunct="1">
              <a:spcBef>
                <a:spcPct val="20000"/>
              </a:spcBef>
              <a:buFont typeface="Arial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Regularization and Optimization</a:t>
            </a:r>
          </a:p>
          <a:p>
            <a:pPr lvl="1"/>
            <a:r>
              <a:rPr lang="en-US" sz="1800" dirty="0"/>
              <a:t>Dropout for preventing overfitting</a:t>
            </a:r>
          </a:p>
          <a:p>
            <a:pPr lvl="1"/>
            <a:r>
              <a:rPr lang="en-US" sz="1800" dirty="0"/>
              <a:t>Weight decay (L2 regularization)</a:t>
            </a:r>
          </a:p>
          <a:p>
            <a:pPr lvl="1"/>
            <a:r>
              <a:rPr lang="en-US" sz="1800" dirty="0"/>
              <a:t>Early stopping based on validation performance</a:t>
            </a:r>
          </a:p>
          <a:p>
            <a:pPr lvl="1"/>
            <a:r>
              <a:rPr lang="en-US" sz="1800" dirty="0"/>
              <a:t>Adam optimizer with learning rate scheduling</a:t>
            </a:r>
          </a:p>
          <a:p>
            <a:pPr lvl="1"/>
            <a:endParaRPr lang="en-US" sz="1800" dirty="0"/>
          </a:p>
          <a:p>
            <a:pPr marL="609585" lvl="1" indent="0">
              <a:buNone/>
            </a:pPr>
            <a:endParaRPr lang="en-US" sz="1800" dirty="0"/>
          </a:p>
          <a:p>
            <a:pPr marL="609585" lvl="1" indent="0">
              <a:buNone/>
            </a:pPr>
            <a:endParaRPr lang="en-US" sz="1800" dirty="0"/>
          </a:p>
          <a:p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Classification Metrics</a:t>
            </a:r>
          </a:p>
          <a:p>
            <a:pPr lvl="1"/>
            <a:r>
              <a:rPr lang="en-US" sz="1800" dirty="0"/>
              <a:t>Accuracy</a:t>
            </a:r>
          </a:p>
          <a:p>
            <a:pPr lvl="1"/>
            <a:r>
              <a:rPr lang="en-US" sz="1800" dirty="0"/>
              <a:t>Precision and Recall</a:t>
            </a:r>
          </a:p>
          <a:p>
            <a:pPr lvl="1"/>
            <a:r>
              <a:rPr lang="en-US" sz="1800" dirty="0"/>
              <a:t>F1-score</a:t>
            </a:r>
          </a:p>
          <a:p>
            <a:pPr lvl="1"/>
            <a:r>
              <a:rPr lang="en-US" sz="1800" dirty="0"/>
              <a:t>ROC-AUC</a:t>
            </a:r>
          </a:p>
          <a:p>
            <a:pPr lvl="1"/>
            <a:r>
              <a:rPr lang="en-US" sz="1800" dirty="0"/>
              <a:t>Balanced Accuracy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endParaRPr lang="en-US" sz="18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574449-E348-2944-077F-919097E3B2F1}"/>
              </a:ext>
            </a:extLst>
          </p:cNvPr>
          <p:cNvSpPr txBox="1">
            <a:spLocks/>
          </p:cNvSpPr>
          <p:nvPr/>
        </p:nvSpPr>
        <p:spPr>
          <a:xfrm>
            <a:off x="6504708" y="1306644"/>
            <a:ext cx="5411587" cy="404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Financial Metrics</a:t>
            </a:r>
          </a:p>
          <a:p>
            <a:pPr lvl="1">
              <a:buFont typeface="Arial" panose="020B0604020202020204" pitchFamily="34" charset="0"/>
              <a:buChar char="−"/>
            </a:pPr>
            <a:r>
              <a:rPr lang="en-US" dirty="0">
                <a:effectLst/>
              </a:rPr>
              <a:t>Cumulative return</a:t>
            </a:r>
          </a:p>
          <a:p>
            <a:pPr lvl="1">
              <a:buFont typeface="Arial" panose="020B0604020202020204" pitchFamily="34" charset="0"/>
              <a:buChar char="−"/>
            </a:pPr>
            <a:r>
              <a:rPr lang="en-US" dirty="0">
                <a:effectLst/>
              </a:rPr>
              <a:t>Sharpe ratio</a:t>
            </a:r>
          </a:p>
          <a:p>
            <a:pPr lvl="1">
              <a:buFont typeface="Arial" panose="020B0604020202020204" pitchFamily="34" charset="0"/>
              <a:buChar char="−"/>
            </a:pPr>
            <a:r>
              <a:rPr lang="en-US" dirty="0">
                <a:effectLst/>
              </a:rPr>
              <a:t>Maximum drawdown</a:t>
            </a:r>
          </a:p>
          <a:p>
            <a:pPr lvl="1">
              <a:buFont typeface="Arial" panose="020B0604020202020204" pitchFamily="34" charset="0"/>
              <a:buChar char="−"/>
            </a:pPr>
            <a:r>
              <a:rPr lang="en-US" dirty="0">
                <a:effectLst/>
              </a:rPr>
              <a:t>Win rate</a:t>
            </a:r>
          </a:p>
          <a:p>
            <a:pPr lvl="1"/>
            <a:endParaRPr lang="en-US" dirty="0">
              <a:effectLst/>
            </a:endParaRPr>
          </a:p>
          <a:p>
            <a:pPr lvl="1"/>
            <a:endParaRPr lang="en-US" dirty="0">
              <a:effectLst/>
            </a:endParaRPr>
          </a:p>
          <a:p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98745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7D144B-E1B5-A44D-BACF-B5A4B07E21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00DFA-D6FA-A040-8B7F-A42F8BF6F6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9110" y="2064483"/>
            <a:ext cx="11713779" cy="2176042"/>
          </a:xfrm>
        </p:spPr>
        <p:txBody>
          <a:bodyPr/>
          <a:lstStyle/>
          <a:p>
            <a:r>
              <a:rPr lang="en-US" sz="2400" b="0" dirty="0"/>
              <a:t>Sequential deep architectures outperform shallow baselines</a:t>
            </a:r>
          </a:p>
          <a:p>
            <a:endParaRPr lang="en-US" sz="2400" b="0" dirty="0"/>
          </a:p>
          <a:p>
            <a:r>
              <a:rPr lang="en-US" sz="2400" b="0" dirty="0"/>
              <a:t>CNN-RNN hybrids improve multi-scale pattern extraction</a:t>
            </a:r>
          </a:p>
          <a:p>
            <a:endParaRPr lang="en-US" sz="2400" b="0" dirty="0"/>
          </a:p>
          <a:p>
            <a:r>
              <a:rPr lang="en-US" sz="2400" b="0" dirty="0"/>
              <a:t>Attention-based models improve interpretability and long-horizon modeling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5F34445-A251-A845-A467-63299B9C1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533" y="611753"/>
            <a:ext cx="10355658" cy="696384"/>
          </a:xfrm>
        </p:spPr>
        <p:txBody>
          <a:bodyPr/>
          <a:lstStyle/>
          <a:p>
            <a:pPr algn="ctr"/>
            <a:r>
              <a:rPr lang="en-US" dirty="0"/>
              <a:t>Expected Outcomes</a:t>
            </a:r>
          </a:p>
        </p:txBody>
      </p:sp>
    </p:spTree>
    <p:extLst>
      <p:ext uri="{BB962C8B-B14F-4D97-AF65-F5344CB8AC3E}">
        <p14:creationId xmlns:p14="http://schemas.microsoft.com/office/powerpoint/2010/main" val="678964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FD48B1-A5BF-5646-8F13-7B56CDC48F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7A8B8A-6880-734F-898C-C2FD2E8429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72085" y="1396033"/>
            <a:ext cx="11589952" cy="3767575"/>
          </a:xfrm>
        </p:spPr>
        <p:txBody>
          <a:bodyPr/>
          <a:lstStyle/>
          <a:p>
            <a:pPr marL="0" indent="0">
              <a:buNone/>
            </a:pPr>
            <a:endParaRPr lang="en-US" sz="2400" b="0" dirty="0"/>
          </a:p>
          <a:p>
            <a:r>
              <a:rPr lang="en-US" sz="2400" b="0" dirty="0"/>
              <a:t>This study systematically compares shallow, recurrent, hybrid, and attention-based architectures for financial time series classification. </a:t>
            </a:r>
          </a:p>
          <a:p>
            <a:endParaRPr lang="en-US" sz="2400" b="0" dirty="0"/>
          </a:p>
          <a:p>
            <a:r>
              <a:rPr lang="en-US" sz="2400" b="0" dirty="0"/>
              <a:t>By applying rigorous evaluation and threshold-based labeling, we aim to provide insight into how deep sequential models learn temporal structure in noisy financial environments.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401591-861E-C547-8326-6F1333638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085" y="699649"/>
            <a:ext cx="10355658" cy="696384"/>
          </a:xfrm>
        </p:spPr>
        <p:txBody>
          <a:bodyPr/>
          <a:lstStyle/>
          <a:p>
            <a:pPr algn="ctr"/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716362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256B5C-3004-7844-8C60-CDDCB74C8A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ECFE7B-4438-0E44-B955-4EBF73F367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1024" y="1151916"/>
            <a:ext cx="11589952" cy="3767575"/>
          </a:xfrm>
        </p:spPr>
        <p:txBody>
          <a:bodyPr/>
          <a:lstStyle/>
          <a:p>
            <a:pPr marL="0" indent="0">
              <a:buNone/>
            </a:pPr>
            <a:r>
              <a:rPr lang="en-US" sz="1800" b="0" dirty="0"/>
              <a:t>[1] P. Jaquart, D. Dann, and C. Weinhardt, “Short-term bitcoin market prediction via machine learning,” 2021. </a:t>
            </a:r>
          </a:p>
          <a:p>
            <a:pPr marL="0" indent="0">
              <a:buNone/>
            </a:pPr>
            <a:r>
              <a:rPr lang="en-US" sz="1800" b="0" dirty="0"/>
              <a:t>[2] S. Siami-Namini et al., “The performance of LSTM and GRU networks in time series forecasting,” IEEE Big Data, 2018. </a:t>
            </a:r>
          </a:p>
          <a:p>
            <a:pPr marL="0" indent="0">
              <a:buNone/>
            </a:pPr>
            <a:r>
              <a:rPr lang="en-US" sz="1800" b="0" dirty="0"/>
              <a:t>[3] Z. Zhang et al., “</a:t>
            </a:r>
            <a:r>
              <a:rPr lang="en-US" sz="1800" b="0" dirty="0" err="1"/>
              <a:t>DeepLOB</a:t>
            </a:r>
            <a:r>
              <a:rPr lang="en-US" sz="1800" b="0" dirty="0"/>
              <a:t>: Deep convolutional neural networks for limit order books,” IEEE Trans. Signal Processing, 2019. </a:t>
            </a:r>
          </a:p>
          <a:p>
            <a:pPr marL="0" indent="0">
              <a:buNone/>
            </a:pPr>
            <a:r>
              <a:rPr lang="en-US" sz="1800" b="0" dirty="0"/>
              <a:t>[4] J. L. Lopez de Prado, ´ Advances in Financial Machine Learning. Wiley, 2018. </a:t>
            </a:r>
          </a:p>
          <a:p>
            <a:pPr marL="0" indent="0">
              <a:buNone/>
            </a:pPr>
            <a:r>
              <a:rPr lang="en-US" sz="1800" b="0" dirty="0"/>
              <a:t>[5] S. Bai et al., “An empirical evaluation of convolutional and recurrent networks for sequence modeling,” 2018. </a:t>
            </a:r>
          </a:p>
          <a:p>
            <a:pPr marL="0" indent="0">
              <a:buNone/>
            </a:pPr>
            <a:r>
              <a:rPr lang="en-US" sz="1800" b="0" dirty="0"/>
              <a:t>[6] A. Vaswani et al., “Attention is all you need,” </a:t>
            </a:r>
            <a:r>
              <a:rPr lang="en-US" sz="1800" b="0" dirty="0" err="1"/>
              <a:t>NeurIPS</a:t>
            </a:r>
            <a:r>
              <a:rPr lang="en-US" sz="1800" b="0" dirty="0"/>
              <a:t>, 2017. </a:t>
            </a:r>
          </a:p>
          <a:p>
            <a:pPr marL="0" indent="0">
              <a:buNone/>
            </a:pPr>
            <a:r>
              <a:rPr lang="en-US" sz="1800" b="0" dirty="0"/>
              <a:t>[7] B. Lim et al., “Temporal Fusion Transformers for interpretable </a:t>
            </a:r>
            <a:r>
              <a:rPr lang="en-US" sz="1800" b="0" dirty="0" err="1"/>
              <a:t>multihorizon</a:t>
            </a:r>
            <a:r>
              <a:rPr lang="en-US" sz="1800" b="0" dirty="0"/>
              <a:t> forecasting,” Int. J. Forecasting, 2021. </a:t>
            </a:r>
          </a:p>
          <a:p>
            <a:pPr marL="0" indent="0">
              <a:buNone/>
            </a:pPr>
            <a:r>
              <a:rPr lang="en-US" sz="1800" b="0" dirty="0"/>
              <a:t>[8] S. Hochreiter and J. </a:t>
            </a:r>
            <a:r>
              <a:rPr lang="en-US" sz="1800" b="0" dirty="0" err="1"/>
              <a:t>Schmidhuber</a:t>
            </a:r>
            <a:r>
              <a:rPr lang="en-US" sz="1800" b="0" dirty="0"/>
              <a:t>, “Long Short-Term Memory,” Neural Computation, 1997. </a:t>
            </a:r>
          </a:p>
          <a:p>
            <a:pPr marL="0" indent="0">
              <a:buNone/>
            </a:pPr>
            <a:r>
              <a:rPr lang="en-US" sz="1800" b="0" dirty="0"/>
              <a:t>[9] K. Cho et al., “Learning phrase representations using RNN </a:t>
            </a:r>
            <a:r>
              <a:rPr lang="en-US" sz="1800" b="0" dirty="0" err="1"/>
              <a:t>encoderdecoder</a:t>
            </a:r>
            <a:r>
              <a:rPr lang="en-US" sz="1800" b="0" dirty="0"/>
              <a:t>,” EMNLP, 2014. </a:t>
            </a:r>
          </a:p>
          <a:p>
            <a:pPr marL="0" indent="0">
              <a:buNone/>
            </a:pPr>
            <a:r>
              <a:rPr lang="en-US" sz="1800" b="0" dirty="0"/>
              <a:t>[10] I. Goodfellow et al., Deep Learning. MIT Press, 2016.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BDF91E-F95D-504A-8E3D-939999979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725" y="518535"/>
            <a:ext cx="10355658" cy="696384"/>
          </a:xfrm>
        </p:spPr>
        <p:txBody>
          <a:bodyPr/>
          <a:lstStyle/>
          <a:p>
            <a:pPr algn="ctr"/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252540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D6E5F19-ECEE-F247-AC76-41D632A5DD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B9DAA05-4101-7F4E-9105-7A7E2CA12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024" y="2991103"/>
            <a:ext cx="11589952" cy="1253062"/>
          </a:xfrm>
        </p:spPr>
        <p:txBody>
          <a:bodyPr/>
          <a:lstStyle/>
          <a:p>
            <a:pPr algn="ctr"/>
            <a:r>
              <a:rPr lang="en-US" dirty="0"/>
              <a:t> THANK YOU</a:t>
            </a:r>
          </a:p>
        </p:txBody>
      </p:sp>
    </p:spTree>
    <p:extLst>
      <p:ext uri="{BB962C8B-B14F-4D97-AF65-F5344CB8AC3E}">
        <p14:creationId xmlns:p14="http://schemas.microsoft.com/office/powerpoint/2010/main" val="3265388699"/>
      </p:ext>
    </p:extLst>
  </p:cSld>
  <p:clrMapOvr>
    <a:masterClrMapping/>
  </p:clrMapOvr>
</p:sld>
</file>

<file path=ppt/theme/theme1.xml><?xml version="1.0" encoding="utf-8"?>
<a:theme xmlns:a="http://schemas.openxmlformats.org/drawingml/2006/main" name="RIT">
  <a:themeElements>
    <a:clrScheme name="RIT">
      <a:dk1>
        <a:srgbClr val="000000"/>
      </a:dk1>
      <a:lt1>
        <a:srgbClr val="FFFFFF"/>
      </a:lt1>
      <a:dk2>
        <a:srgbClr val="6F706F"/>
      </a:dk2>
      <a:lt2>
        <a:srgbClr val="E7E6E6"/>
      </a:lt2>
      <a:accent1>
        <a:srgbClr val="F66900"/>
      </a:accent1>
      <a:accent2>
        <a:srgbClr val="F6BD00"/>
      </a:accent2>
      <a:accent3>
        <a:srgbClr val="C4D500"/>
      </a:accent3>
      <a:accent4>
        <a:srgbClr val="009CBD"/>
      </a:accent4>
      <a:accent5>
        <a:srgbClr val="7D54C7"/>
      </a:accent5>
      <a:accent6>
        <a:srgbClr val="70AD47"/>
      </a:accent6>
      <a:hlink>
        <a:srgbClr val="D64900"/>
      </a:hlink>
      <a:folHlink>
        <a:srgbClr val="71747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5a" id="{E3418252-4895-964F-961C-8180D08E9AFD}" vid="{6C85667F-3AE7-334E-BF87-DE93D94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RIT</Template>
  <TotalTime>10538</TotalTime>
  <Words>800</Words>
  <Application>Microsoft Office PowerPoint</Application>
  <PresentationFormat>Widescreen</PresentationFormat>
  <Paragraphs>121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MS Gothic</vt:lpstr>
      <vt:lpstr>Arial</vt:lpstr>
      <vt:lpstr>Calibri</vt:lpstr>
      <vt:lpstr>Cambria Math</vt:lpstr>
      <vt:lpstr>Georgia</vt:lpstr>
      <vt:lpstr>System Font Regular</vt:lpstr>
      <vt:lpstr>Times New Roman</vt:lpstr>
      <vt:lpstr>Wingdings</vt:lpstr>
      <vt:lpstr>RIT</vt:lpstr>
      <vt:lpstr>Deep Sequential Architectures for Financial Time Series Classification  </vt:lpstr>
      <vt:lpstr>Outline</vt:lpstr>
      <vt:lpstr>Introduction</vt:lpstr>
      <vt:lpstr>Research Questions</vt:lpstr>
      <vt:lpstr>Problem Motivation</vt:lpstr>
      <vt:lpstr>Related Works</vt:lpstr>
      <vt:lpstr>Problem Formulation</vt:lpstr>
      <vt:lpstr>Architectures to be Evaluated</vt:lpstr>
      <vt:lpstr>Training Modalities</vt:lpstr>
      <vt:lpstr>Expected Outcomes</vt:lpstr>
      <vt:lpstr>Conclusion</vt:lpstr>
      <vt:lpstr>References</vt:lpstr>
      <vt:lpstr>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CRITICAL REVIEW PRESENTATION  </dc:title>
  <dc:creator>Microsoft Office User</dc:creator>
  <cp:lastModifiedBy>Gloria Mbaka (RIT Student)</cp:lastModifiedBy>
  <cp:revision>58</cp:revision>
  <cp:lastPrinted>2018-04-25T02:50:23Z</cp:lastPrinted>
  <dcterms:created xsi:type="dcterms:W3CDTF">2023-12-05T17:09:58Z</dcterms:created>
  <dcterms:modified xsi:type="dcterms:W3CDTF">2026-03-02T03:04:54Z</dcterms:modified>
</cp:coreProperties>
</file>